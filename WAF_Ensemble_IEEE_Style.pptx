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384"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900" b="0" i="0" u="none" strike="noStrike">
                <a:solidFill>
                  <a:srgbClr val="003F87"/>
                </a:solidFill>
                <a:latin typeface="Arial"/>
              </a:defRPr>
            </a:pPr>
            <a:r>
              <a:rPr lang="en-US" sz="900" b="0" i="0" u="none" strike="noStrike">
                <a:solidFill>
                  <a:srgbClr val="003F87"/>
                </a:solidFill>
                <a:latin typeface="Arial"/>
              </a:rPr>
              <a:t>Accuracy by Configuration (%)</a:t>
            </a:r>
          </a:p>
        </c:rich>
      </c:tx>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1B5EA6"/>
            </a:solidFill>
            <a:effectLst/>
          </c:spPr>
          <c:invertIfNegative val="0"/>
          <c:dPt>
            <c:idx val="0"/>
            <c:invertIfNegative val="0"/>
            <c:bubble3D val="0"/>
            <c:spPr>
              <a:solidFill>
                <a:srgbClr val="1B5EA6"/>
              </a:solidFill>
              <a:effectLst/>
            </c:spPr>
            <c:extLst>
              <c:ext xmlns:c16="http://schemas.microsoft.com/office/drawing/2014/chart" uri="{C3380CC4-5D6E-409C-BE32-E72D297353CC}">
                <c16:uniqueId val="{00000001-7159-4AFF-A971-CC0D433AAB37}"/>
              </c:ext>
            </c:extLst>
          </c:dPt>
          <c:dPt>
            <c:idx val="1"/>
            <c:invertIfNegative val="0"/>
            <c:bubble3D val="0"/>
            <c:spPr>
              <a:solidFill>
                <a:srgbClr val="1B5EA6"/>
              </a:solidFill>
              <a:effectLst/>
            </c:spPr>
            <c:extLst>
              <c:ext xmlns:c16="http://schemas.microsoft.com/office/drawing/2014/chart" uri="{C3380CC4-5D6E-409C-BE32-E72D297353CC}">
                <c16:uniqueId val="{00000003-7159-4AFF-A971-CC0D433AAB37}"/>
              </c:ext>
            </c:extLst>
          </c:dPt>
          <c:dPt>
            <c:idx val="2"/>
            <c:invertIfNegative val="0"/>
            <c:bubble3D val="0"/>
            <c:spPr>
              <a:solidFill>
                <a:srgbClr val="003F87"/>
              </a:solidFill>
              <a:effectLst/>
            </c:spPr>
            <c:extLst>
              <c:ext xmlns:c16="http://schemas.microsoft.com/office/drawing/2014/chart" uri="{C3380CC4-5D6E-409C-BE32-E72D297353CC}">
                <c16:uniqueId val="{00000005-7159-4AFF-A971-CC0D433AAB37}"/>
              </c:ext>
            </c:extLst>
          </c:dPt>
          <c:dPt>
            <c:idx val="3"/>
            <c:invertIfNegative val="0"/>
            <c:bubble3D val="0"/>
            <c:spPr>
              <a:solidFill>
                <a:srgbClr val="003F87"/>
              </a:solidFill>
              <a:effectLst/>
            </c:spPr>
            <c:extLst>
              <c:ext xmlns:c16="http://schemas.microsoft.com/office/drawing/2014/chart" uri="{C3380CC4-5D6E-409C-BE32-E72D297353CC}">
                <c16:uniqueId val="{00000007-7159-4AFF-A971-CC0D433AAB37}"/>
              </c:ext>
            </c:extLst>
          </c:dPt>
          <c:dPt>
            <c:idx val="4"/>
            <c:invertIfNegative val="0"/>
            <c:bubble3D val="0"/>
            <c:spPr>
              <a:solidFill>
                <a:srgbClr val="C8870A"/>
              </a:solidFill>
              <a:effectLst/>
            </c:spPr>
            <c:extLst>
              <c:ext xmlns:c16="http://schemas.microsoft.com/office/drawing/2014/chart" uri="{C3380CC4-5D6E-409C-BE32-E72D297353CC}">
                <c16:uniqueId val="{00000009-7159-4AFF-A971-CC0D433AAB37}"/>
              </c:ext>
            </c:extLst>
          </c:dPt>
          <c:dLbls>
            <c:numFmt formatCode="#,##0" sourceLinked="0"/>
            <c:spPr>
              <a:noFill/>
              <a:ln>
                <a:noFill/>
              </a:ln>
              <a:effectLst/>
            </c:spPr>
            <c:txPr>
              <a:bodyPr/>
              <a:lstStyle/>
              <a:p>
                <a:pPr>
                  <a:defRPr sz="8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KNN (baseline)</c:v>
                </c:pt>
                <c:pt idx="1">
                  <c:v>KNN + SMOTE</c:v>
                </c:pt>
                <c:pt idx="2">
                  <c:v>Ensemble + FS</c:v>
                </c:pt>
                <c:pt idx="3">
                  <c:v>Ensemble + SMOTE</c:v>
                </c:pt>
                <c:pt idx="4">
                  <c:v>Full Proposed</c:v>
                </c:pt>
              </c:strCache>
            </c:strRef>
          </c:cat>
          <c:val>
            <c:numRef>
              <c:f>Sheet1!$B$2:$B$6</c:f>
              <c:numCache>
                <c:formatCode>General</c:formatCode>
                <c:ptCount val="5"/>
                <c:pt idx="0">
                  <c:v>98.88</c:v>
                </c:pt>
                <c:pt idx="1">
                  <c:v>98.88</c:v>
                </c:pt>
                <c:pt idx="2">
                  <c:v>99.55</c:v>
                </c:pt>
                <c:pt idx="3">
                  <c:v>99.56</c:v>
                </c:pt>
                <c:pt idx="4">
                  <c:v>99.56</c:v>
                </c:pt>
              </c:numCache>
            </c:numRef>
          </c:val>
          <c:extLst>
            <c:ext xmlns:c16="http://schemas.microsoft.com/office/drawing/2014/chart" uri="{C3380CC4-5D6E-409C-BE32-E72D297353CC}">
              <c16:uniqueId val="{0000000A-7159-4AFF-A971-CC0D433AAB3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max val="100"/>
          <c:min val="98.5"/>
        </c:scaling>
        <c:delete val="0"/>
        <c:axPos val="l"/>
        <c:majorGridlines>
          <c:spPr>
            <a:ln w="6350" cap="flat">
              <a:solidFill>
                <a:srgbClr val="E8ED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750" b="0" i="0" u="none" strike="noStrike">
                <a:solidFill>
                  <a:srgbClr val="003F87"/>
                </a:solidFill>
                <a:latin typeface="Arial"/>
              </a:defRPr>
            </a:pPr>
            <a:r>
              <a:rPr lang="en-US" sz="750" b="0" i="0" u="none" strike="noStrike">
                <a:solidFill>
                  <a:srgbClr val="003F87"/>
                </a:solidFill>
                <a:latin typeface="Arial"/>
              </a:rPr>
              <a:t>Accuracy Drop by Transfer Scenario (%)</a:t>
            </a:r>
          </a:p>
        </c:rich>
      </c:tx>
      <c:overlay val="0"/>
    </c:title>
    <c:autoTitleDeleted val="0"/>
    <c:plotArea>
      <c:layout/>
      <c:barChart>
        <c:barDir val="bar"/>
        <c:grouping val="clustered"/>
        <c:varyColors val="0"/>
        <c:ser>
          <c:idx val="0"/>
          <c:order val="0"/>
          <c:tx>
            <c:strRef>
              <c:f>Sheet1!$B$1</c:f>
              <c:strCache>
                <c:ptCount val="1"/>
                <c:pt idx="0">
                  <c:v>Accuracy Drop (%)</c:v>
                </c:pt>
              </c:strCache>
            </c:strRef>
          </c:tx>
          <c:spPr>
            <a:solidFill>
              <a:srgbClr val="C0392B"/>
            </a:solidFill>
            <a:effectLst/>
          </c:spPr>
          <c:invertIfNegative val="0"/>
          <c:dLbls>
            <c:numFmt formatCode="#,##0" sourceLinked="0"/>
            <c:spPr>
              <a:noFill/>
              <a:ln>
                <a:noFill/>
              </a:ln>
              <a:effectLst/>
            </c:spPr>
            <c:txPr>
              <a:bodyPr/>
              <a:lstStyle/>
              <a:p>
                <a:pPr>
                  <a:defRPr sz="700" b="0" i="0" u="none" strike="noStrike">
                    <a:solidFill>
                      <a:srgbClr val="1A1A2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CIC17→18</c:v>
                </c:pt>
                <c:pt idx="1">
                  <c:v>CIC17→UNSW</c:v>
                </c:pt>
                <c:pt idx="2">
                  <c:v>UNSW→CIC17</c:v>
                </c:pt>
                <c:pt idx="3">
                  <c:v>UNSW→CIC18</c:v>
                </c:pt>
                <c:pt idx="4">
                  <c:v>CIC18→CIC17</c:v>
                </c:pt>
                <c:pt idx="5">
                  <c:v>CIC18→UNSW</c:v>
                </c:pt>
              </c:strCache>
            </c:strRef>
          </c:cat>
          <c:val>
            <c:numRef>
              <c:f>Sheet1!$B$2:$B$7</c:f>
              <c:numCache>
                <c:formatCode>General</c:formatCode>
                <c:ptCount val="6"/>
                <c:pt idx="0">
                  <c:v>27.68</c:v>
                </c:pt>
                <c:pt idx="1">
                  <c:v>49.96</c:v>
                </c:pt>
                <c:pt idx="2">
                  <c:v>62.98</c:v>
                </c:pt>
                <c:pt idx="3">
                  <c:v>50.22</c:v>
                </c:pt>
                <c:pt idx="4">
                  <c:v>51.53</c:v>
                </c:pt>
                <c:pt idx="5">
                  <c:v>80.31</c:v>
                </c:pt>
              </c:numCache>
            </c:numRef>
          </c:val>
          <c:extLst>
            <c:ext xmlns:c16="http://schemas.microsoft.com/office/drawing/2014/chart" uri="{C3380CC4-5D6E-409C-BE32-E72D297353CC}">
              <c16:uniqueId val="{00000000-2C29-4FDF-AAA5-E578C86023E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8F8"/>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8892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960120"/>
            <a:ext cx="9144000" cy="45720"/>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137160"/>
            <a:ext cx="8229600" cy="347472"/>
          </a:xfrm>
          <a:prstGeom prst="rect">
            <a:avLst/>
          </a:prstGeom>
          <a:noFill/>
          <a:ln/>
        </p:spPr>
        <p:txBody>
          <a:bodyPr wrap="square" lIns="0" tIns="0" rIns="0" bIns="0" rtlCol="0" anchor="ctr"/>
          <a:lstStyle/>
          <a:p>
            <a:pPr marL="0" indent="0">
              <a:buNone/>
            </a:pPr>
            <a:endParaRPr lang="en-US" sz="1100" dirty="0"/>
          </a:p>
        </p:txBody>
      </p:sp>
      <p:sp>
        <p:nvSpPr>
          <p:cNvPr id="5" name="Text 3"/>
          <p:cNvSpPr/>
          <p:nvPr/>
        </p:nvSpPr>
        <p:spPr>
          <a:xfrm>
            <a:off x="411480" y="502920"/>
            <a:ext cx="8229600" cy="274320"/>
          </a:xfrm>
          <a:prstGeom prst="rect">
            <a:avLst/>
          </a:prstGeom>
          <a:noFill/>
          <a:ln/>
        </p:spPr>
        <p:txBody>
          <a:bodyPr wrap="square" lIns="0" tIns="0" rIns="0" bIns="0" rtlCol="0" anchor="ctr"/>
          <a:lstStyle/>
          <a:p>
            <a:pPr marL="0" indent="0">
              <a:buNone/>
            </a:pPr>
            <a:endParaRPr lang="en-US" sz="950" dirty="0"/>
          </a:p>
        </p:txBody>
      </p:sp>
      <p:sp>
        <p:nvSpPr>
          <p:cNvPr id="6" name="Text 4"/>
          <p:cNvSpPr/>
          <p:nvPr/>
        </p:nvSpPr>
        <p:spPr>
          <a:xfrm>
            <a:off x="548640" y="1188720"/>
            <a:ext cx="8046720" cy="2011680"/>
          </a:xfrm>
          <a:prstGeom prst="rect">
            <a:avLst/>
          </a:prstGeom>
          <a:noFill/>
          <a:ln/>
        </p:spPr>
        <p:txBody>
          <a:bodyPr wrap="square" lIns="0" tIns="0" rIns="0" bIns="0" rtlCol="0" anchor="ctr"/>
          <a:lstStyle/>
          <a:p>
            <a:pPr marL="0" indent="0" algn="ctr">
              <a:lnSpc>
                <a:spcPct val="125000"/>
              </a:lnSpc>
              <a:buNone/>
            </a:pPr>
            <a:r>
              <a:rPr lang="en-US" sz="2400" b="1" dirty="0">
                <a:solidFill>
                  <a:srgbClr val="003F87"/>
                </a:solidFill>
                <a:latin typeface="Times New Roman" pitchFamily="34" charset="0"/>
                <a:ea typeface="Times New Roman" pitchFamily="34" charset="-122"/>
                <a:cs typeface="Times New Roman" pitchFamily="34" charset="-120"/>
              </a:rPr>
              <a:t>Architecting a Lightweight Hybrid ML Ensemble for</a:t>
            </a:r>
            <a:endParaRPr lang="en-US" sz="2400" dirty="0"/>
          </a:p>
          <a:p>
            <a:pPr marL="0" indent="0" algn="ctr">
              <a:lnSpc>
                <a:spcPct val="125000"/>
              </a:lnSpc>
              <a:buNone/>
            </a:pPr>
            <a:r>
              <a:rPr lang="en-US" sz="2400" b="1" dirty="0">
                <a:solidFill>
                  <a:srgbClr val="003F87"/>
                </a:solidFill>
                <a:latin typeface="Times New Roman" pitchFamily="34" charset="0"/>
                <a:ea typeface="Times New Roman" pitchFamily="34" charset="-122"/>
                <a:cs typeface="Times New Roman" pitchFamily="34" charset="-120"/>
              </a:rPr>
              <a:t>Real-Time Multi-Threat Detection</a:t>
            </a:r>
            <a:endParaRPr lang="en-US" sz="2400" dirty="0"/>
          </a:p>
          <a:p>
            <a:pPr marL="0" indent="0" algn="ctr">
              <a:lnSpc>
                <a:spcPct val="125000"/>
              </a:lnSpc>
              <a:buNone/>
            </a:pPr>
            <a:r>
              <a:rPr lang="en-US" sz="2400" b="1" dirty="0">
                <a:solidFill>
                  <a:srgbClr val="003F87"/>
                </a:solidFill>
                <a:latin typeface="Times New Roman" pitchFamily="34" charset="0"/>
                <a:ea typeface="Times New Roman" pitchFamily="34" charset="-122"/>
                <a:cs typeface="Times New Roman" pitchFamily="34" charset="-120"/>
              </a:rPr>
              <a:t>in Web Application Firewalls</a:t>
            </a:r>
            <a:endParaRPr lang="en-US" sz="2400" dirty="0"/>
          </a:p>
        </p:txBody>
      </p:sp>
      <p:sp>
        <p:nvSpPr>
          <p:cNvPr id="7" name="Shape 5"/>
          <p:cNvSpPr/>
          <p:nvPr/>
        </p:nvSpPr>
        <p:spPr>
          <a:xfrm>
            <a:off x="914400" y="3246120"/>
            <a:ext cx="7315200" cy="0"/>
          </a:xfrm>
          <a:prstGeom prst="line">
            <a:avLst/>
          </a:prstGeom>
          <a:noFill/>
          <a:ln w="19050">
            <a:solidFill>
              <a:srgbClr val="BBCDE8"/>
            </a:solidFill>
            <a:prstDash val="solid"/>
          </a:ln>
        </p:spPr>
        <p:txBody>
          <a:bodyPr/>
          <a:lstStyle/>
          <a:p>
            <a:endParaRPr lang="en-US"/>
          </a:p>
        </p:txBody>
      </p:sp>
      <p:sp>
        <p:nvSpPr>
          <p:cNvPr id="8" name="Text 6"/>
          <p:cNvSpPr/>
          <p:nvPr/>
        </p:nvSpPr>
        <p:spPr>
          <a:xfrm>
            <a:off x="365760" y="3364992"/>
            <a:ext cx="8412480" cy="320040"/>
          </a:xfrm>
          <a:prstGeom prst="rect">
            <a:avLst/>
          </a:prstGeom>
          <a:noFill/>
          <a:ln/>
        </p:spPr>
        <p:txBody>
          <a:bodyPr wrap="square" lIns="0" tIns="0" rIns="0" bIns="0" rtlCol="0" anchor="ctr"/>
          <a:lstStyle/>
          <a:p>
            <a:pPr marL="0" indent="0" algn="ctr">
              <a:buNone/>
            </a:pPr>
            <a:r>
              <a:rPr lang="en-US" sz="1100" dirty="0">
                <a:solidFill>
                  <a:srgbClr val="1A1A2E"/>
                </a:solidFill>
                <a:latin typeface="Calibri" pitchFamily="34" charset="0"/>
                <a:ea typeface="Calibri" pitchFamily="34" charset="-122"/>
                <a:cs typeface="Calibri" pitchFamily="34" charset="-120"/>
              </a:rPr>
              <a:t>Md. Fahad Islam Togor   ·   Md. Shakhawat Hossain Khan   ·   Md. Rafiduzzaman   ·   Mahzabeen Nourin</a:t>
            </a:r>
            <a:endParaRPr lang="en-US" sz="1100" dirty="0"/>
          </a:p>
        </p:txBody>
      </p:sp>
      <p:sp>
        <p:nvSpPr>
          <p:cNvPr id="9" name="Text 7"/>
          <p:cNvSpPr/>
          <p:nvPr/>
        </p:nvSpPr>
        <p:spPr>
          <a:xfrm>
            <a:off x="365760" y="3712464"/>
            <a:ext cx="8412480" cy="274320"/>
          </a:xfrm>
          <a:prstGeom prst="rect">
            <a:avLst/>
          </a:prstGeom>
          <a:noFill/>
          <a:ln/>
        </p:spPr>
        <p:txBody>
          <a:bodyPr wrap="square" lIns="0" tIns="0" rIns="0" bIns="0" rtlCol="0" anchor="ctr"/>
          <a:lstStyle/>
          <a:p>
            <a:pPr marL="0" indent="0" algn="ctr">
              <a:buNone/>
            </a:pPr>
            <a:r>
              <a:rPr lang="en-US" sz="1050" b="1" dirty="0">
                <a:solidFill>
                  <a:srgbClr val="C8870A"/>
                </a:solidFill>
                <a:latin typeface="Calibri" pitchFamily="34" charset="0"/>
                <a:ea typeface="Calibri" pitchFamily="34" charset="-122"/>
                <a:cs typeface="Calibri" pitchFamily="34" charset="-120"/>
              </a:rPr>
              <a:t>Supervisor: Md. Mazid-Ul-Haque</a:t>
            </a:r>
            <a:endParaRPr lang="en-US" sz="1050" dirty="0"/>
          </a:p>
        </p:txBody>
      </p:sp>
      <p:sp>
        <p:nvSpPr>
          <p:cNvPr id="10" name="Shape 8"/>
          <p:cNvSpPr/>
          <p:nvPr/>
        </p:nvSpPr>
        <p:spPr>
          <a:xfrm>
            <a:off x="0" y="4754880"/>
            <a:ext cx="9144000" cy="388620"/>
          </a:xfrm>
          <a:prstGeom prst="rect">
            <a:avLst/>
          </a:prstGeom>
          <a:solidFill>
            <a:srgbClr val="003F87"/>
          </a:solidFill>
          <a:ln w="12700">
            <a:solidFill>
              <a:srgbClr val="003F87"/>
            </a:solidFill>
            <a:prstDash val="solid"/>
          </a:ln>
        </p:spPr>
        <p:txBody>
          <a:bodyPr/>
          <a:lstStyle/>
          <a:p>
            <a:endParaRPr lang="en-US"/>
          </a:p>
        </p:txBody>
      </p:sp>
      <p:sp>
        <p:nvSpPr>
          <p:cNvPr id="11" name="Text 9"/>
          <p:cNvSpPr/>
          <p:nvPr/>
        </p:nvSpPr>
        <p:spPr>
          <a:xfrm>
            <a:off x="365760" y="4754880"/>
            <a:ext cx="8412480" cy="388620"/>
          </a:xfrm>
          <a:prstGeom prst="rect">
            <a:avLst/>
          </a:prstGeom>
          <a:noFill/>
          <a:ln/>
        </p:spPr>
        <p:txBody>
          <a:bodyPr wrap="square" lIns="0" tIns="0" rIns="0" bIns="0" rtlCol="0" anchor="ctr"/>
          <a:lstStyle/>
          <a:p>
            <a:pPr marL="0" indent="0" algn="ctr">
              <a:buNone/>
            </a:pP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 Abstract &amp; Overview</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Shape 5"/>
          <p:cNvSpPr/>
          <p:nvPr/>
        </p:nvSpPr>
        <p:spPr>
          <a:xfrm>
            <a:off x="256032" y="804672"/>
            <a:ext cx="2743200" cy="2971800"/>
          </a:xfrm>
          <a:prstGeom prst="rect">
            <a:avLst/>
          </a:prstGeom>
          <a:solidFill>
            <a:srgbClr val="FFFFFF"/>
          </a:solidFill>
          <a:ln w="19050">
            <a:solidFill>
              <a:srgbClr val="C0392B"/>
            </a:solidFill>
            <a:prstDash val="solid"/>
          </a:ln>
          <a:effectLst>
            <a:outerShdw blurRad="63500" dist="25400" dir="8100000" algn="bl" rotWithShape="0">
              <a:srgbClr val="AAAAAA">
                <a:alpha val="18000"/>
              </a:srgbClr>
            </a:outerShdw>
          </a:effectLst>
        </p:spPr>
        <p:txBody>
          <a:bodyPr/>
          <a:lstStyle/>
          <a:p>
            <a:endParaRPr lang="en-US"/>
          </a:p>
        </p:txBody>
      </p:sp>
      <p:sp>
        <p:nvSpPr>
          <p:cNvPr id="8" name="Shape 6"/>
          <p:cNvSpPr/>
          <p:nvPr/>
        </p:nvSpPr>
        <p:spPr>
          <a:xfrm>
            <a:off x="256032" y="804672"/>
            <a:ext cx="2743200" cy="347472"/>
          </a:xfrm>
          <a:prstGeom prst="rect">
            <a:avLst/>
          </a:prstGeom>
          <a:solidFill>
            <a:srgbClr val="003F87"/>
          </a:solidFill>
          <a:ln w="12700">
            <a:solidFill>
              <a:srgbClr val="003F87"/>
            </a:solidFill>
            <a:prstDash val="solid"/>
          </a:ln>
        </p:spPr>
        <p:txBody>
          <a:bodyPr/>
          <a:lstStyle/>
          <a:p>
            <a:endParaRPr lang="en-US"/>
          </a:p>
        </p:txBody>
      </p:sp>
      <p:sp>
        <p:nvSpPr>
          <p:cNvPr id="9" name="Text 7"/>
          <p:cNvSpPr/>
          <p:nvPr/>
        </p:nvSpPr>
        <p:spPr>
          <a:xfrm>
            <a:off x="365760" y="804672"/>
            <a:ext cx="2523744"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Problem</a:t>
            </a:r>
            <a:endParaRPr lang="en-US" sz="1050" dirty="0"/>
          </a:p>
        </p:txBody>
      </p:sp>
      <p:sp>
        <p:nvSpPr>
          <p:cNvPr id="10" name="Text 8"/>
          <p:cNvSpPr/>
          <p:nvPr/>
        </p:nvSpPr>
        <p:spPr>
          <a:xfrm>
            <a:off x="384048" y="1225296"/>
            <a:ext cx="2487168" cy="2487168"/>
          </a:xfrm>
          <a:prstGeom prst="rect">
            <a:avLst/>
          </a:prstGeom>
          <a:noFill/>
          <a:ln/>
        </p:spPr>
        <p:txBody>
          <a:bodyPr wrap="square" lIns="0" tIns="0" rIns="0" bIns="0" rtlCol="0" anchor="t"/>
          <a:lstStyle/>
          <a:p>
            <a:pPr marL="0" indent="0">
              <a:buNone/>
            </a:pPr>
            <a:r>
              <a:rPr lang="en-US" sz="950" dirty="0">
                <a:solidFill>
                  <a:srgbClr val="1A1A2E"/>
                </a:solidFill>
                <a:latin typeface="Calibri" pitchFamily="34" charset="0"/>
                <a:ea typeface="Calibri" pitchFamily="34" charset="-122"/>
                <a:cs typeface="Calibri" pitchFamily="34" charset="-120"/>
              </a:rPr>
              <a:t>WAFs face heterogeneous and evolving threats. Many IDS models are brittle across datasets — creating a deployment gap between lab-grade scores and real-world reliability.</a:t>
            </a:r>
            <a:endParaRPr lang="en-US" sz="950" dirty="0"/>
          </a:p>
        </p:txBody>
      </p:sp>
      <p:sp>
        <p:nvSpPr>
          <p:cNvPr id="11" name="Shape 9"/>
          <p:cNvSpPr/>
          <p:nvPr/>
        </p:nvSpPr>
        <p:spPr>
          <a:xfrm>
            <a:off x="3163824" y="804672"/>
            <a:ext cx="2743200" cy="2971800"/>
          </a:xfrm>
          <a:prstGeom prst="rect">
            <a:avLst/>
          </a:prstGeom>
          <a:solidFill>
            <a:srgbClr val="FFFFFF"/>
          </a:solidFill>
          <a:ln w="19050">
            <a:solidFill>
              <a:srgbClr val="2E7BC4"/>
            </a:solidFill>
            <a:prstDash val="solid"/>
          </a:ln>
          <a:effectLst>
            <a:outerShdw blurRad="63500" dist="25400" dir="8100000" algn="bl" rotWithShape="0">
              <a:srgbClr val="AAAAAA">
                <a:alpha val="18000"/>
              </a:srgbClr>
            </a:outerShdw>
          </a:effectLst>
        </p:spPr>
        <p:txBody>
          <a:bodyPr/>
          <a:lstStyle/>
          <a:p>
            <a:endParaRPr lang="en-US"/>
          </a:p>
        </p:txBody>
      </p:sp>
      <p:sp>
        <p:nvSpPr>
          <p:cNvPr id="12" name="Shape 10"/>
          <p:cNvSpPr/>
          <p:nvPr/>
        </p:nvSpPr>
        <p:spPr>
          <a:xfrm>
            <a:off x="3163824" y="804672"/>
            <a:ext cx="2743200" cy="347472"/>
          </a:xfrm>
          <a:prstGeom prst="rect">
            <a:avLst/>
          </a:prstGeom>
          <a:solidFill>
            <a:srgbClr val="003F87"/>
          </a:solidFill>
          <a:ln w="12700">
            <a:solidFill>
              <a:srgbClr val="003F87"/>
            </a:solidFill>
            <a:prstDash val="solid"/>
          </a:ln>
        </p:spPr>
        <p:txBody>
          <a:bodyPr/>
          <a:lstStyle/>
          <a:p>
            <a:endParaRPr lang="en-US"/>
          </a:p>
        </p:txBody>
      </p:sp>
      <p:sp>
        <p:nvSpPr>
          <p:cNvPr id="13" name="Text 11"/>
          <p:cNvSpPr/>
          <p:nvPr/>
        </p:nvSpPr>
        <p:spPr>
          <a:xfrm>
            <a:off x="3273552" y="804672"/>
            <a:ext cx="2523744"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Proposed Approach</a:t>
            </a:r>
            <a:endParaRPr lang="en-US" sz="1050" dirty="0"/>
          </a:p>
        </p:txBody>
      </p:sp>
      <p:sp>
        <p:nvSpPr>
          <p:cNvPr id="14" name="Text 12"/>
          <p:cNvSpPr/>
          <p:nvPr/>
        </p:nvSpPr>
        <p:spPr>
          <a:xfrm>
            <a:off x="3291840" y="1225296"/>
            <a:ext cx="2487168" cy="2487168"/>
          </a:xfrm>
          <a:prstGeom prst="rect">
            <a:avLst/>
          </a:prstGeom>
          <a:noFill/>
          <a:ln/>
        </p:spPr>
        <p:txBody>
          <a:bodyPr wrap="square" lIns="0" tIns="0" rIns="0" bIns="0" rtlCol="0" anchor="t"/>
          <a:lstStyle/>
          <a:p>
            <a:pPr marL="0" indent="0">
              <a:buNone/>
            </a:pPr>
            <a:r>
              <a:rPr lang="en-US" sz="950" dirty="0">
                <a:solidFill>
                  <a:srgbClr val="1A1A2E"/>
                </a:solidFill>
                <a:latin typeface="Calibri" pitchFamily="34" charset="0"/>
                <a:ea typeface="Calibri" pitchFamily="34" charset="-122"/>
                <a:cs typeface="Calibri" pitchFamily="34" charset="-120"/>
              </a:rPr>
              <a:t>Lightweight weighted soft-voting ensemble: KNN + Random Forest + XGBoost with weights [0.2, 0.4, 0.4], SMOTE balancing (k=5), and SelectKBest feature selection (k=30).</a:t>
            </a:r>
            <a:endParaRPr lang="en-US" sz="950" dirty="0"/>
          </a:p>
        </p:txBody>
      </p:sp>
      <p:sp>
        <p:nvSpPr>
          <p:cNvPr id="15" name="Shape 13"/>
          <p:cNvSpPr/>
          <p:nvPr/>
        </p:nvSpPr>
        <p:spPr>
          <a:xfrm>
            <a:off x="6071616" y="804672"/>
            <a:ext cx="2743200" cy="2971800"/>
          </a:xfrm>
          <a:prstGeom prst="rect">
            <a:avLst/>
          </a:prstGeom>
          <a:solidFill>
            <a:srgbClr val="FFFFFF"/>
          </a:solidFill>
          <a:ln w="19050">
            <a:solidFill>
              <a:srgbClr val="C8870A"/>
            </a:solidFill>
            <a:prstDash val="solid"/>
          </a:ln>
          <a:effectLst>
            <a:outerShdw blurRad="63500" dist="25400" dir="8100000" algn="bl" rotWithShape="0">
              <a:srgbClr val="AAAAAA">
                <a:alpha val="18000"/>
              </a:srgbClr>
            </a:outerShdw>
          </a:effectLst>
        </p:spPr>
        <p:txBody>
          <a:bodyPr/>
          <a:lstStyle/>
          <a:p>
            <a:endParaRPr lang="en-US"/>
          </a:p>
        </p:txBody>
      </p:sp>
      <p:sp>
        <p:nvSpPr>
          <p:cNvPr id="16" name="Shape 14"/>
          <p:cNvSpPr/>
          <p:nvPr/>
        </p:nvSpPr>
        <p:spPr>
          <a:xfrm>
            <a:off x="6071616" y="804672"/>
            <a:ext cx="2743200" cy="347472"/>
          </a:xfrm>
          <a:prstGeom prst="rect">
            <a:avLst/>
          </a:prstGeom>
          <a:solidFill>
            <a:srgbClr val="003F87"/>
          </a:solidFill>
          <a:ln w="12700">
            <a:solidFill>
              <a:srgbClr val="003F87"/>
            </a:solidFill>
            <a:prstDash val="solid"/>
          </a:ln>
        </p:spPr>
        <p:txBody>
          <a:bodyPr/>
          <a:lstStyle/>
          <a:p>
            <a:endParaRPr lang="en-US"/>
          </a:p>
        </p:txBody>
      </p:sp>
      <p:sp>
        <p:nvSpPr>
          <p:cNvPr id="17" name="Text 15"/>
          <p:cNvSpPr/>
          <p:nvPr/>
        </p:nvSpPr>
        <p:spPr>
          <a:xfrm>
            <a:off x="6181344" y="804672"/>
            <a:ext cx="2523744" cy="347472"/>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Key Findings</a:t>
            </a:r>
            <a:endParaRPr lang="en-US" sz="1050" dirty="0"/>
          </a:p>
        </p:txBody>
      </p:sp>
      <p:sp>
        <p:nvSpPr>
          <p:cNvPr id="18" name="Text 16"/>
          <p:cNvSpPr/>
          <p:nvPr/>
        </p:nvSpPr>
        <p:spPr>
          <a:xfrm>
            <a:off x="6199632" y="1225296"/>
            <a:ext cx="2487168" cy="2487168"/>
          </a:xfrm>
          <a:prstGeom prst="rect">
            <a:avLst/>
          </a:prstGeom>
          <a:noFill/>
          <a:ln/>
        </p:spPr>
        <p:txBody>
          <a:bodyPr wrap="square" lIns="0" tIns="0" rIns="0" bIns="0" rtlCol="0" anchor="t"/>
          <a:lstStyle/>
          <a:p>
            <a:pPr marL="0" indent="0">
              <a:buNone/>
            </a:pPr>
            <a:r>
              <a:rPr lang="en-US" sz="950" dirty="0">
                <a:solidFill>
                  <a:srgbClr val="1A1A2E"/>
                </a:solidFill>
                <a:latin typeface="Calibri" pitchFamily="34" charset="0"/>
                <a:ea typeface="Calibri" pitchFamily="34" charset="-122"/>
                <a:cs typeface="Calibri" pitchFamily="34" charset="-120"/>
              </a:rPr>
              <a:t>99.56% accuracy on CIC-IDS-2017 · 100.00% on UNSW-NB15 · 90.42% on CIC-IDS-2018. Cross-dataset testing reveals severe dataset-shift degradation.</a:t>
            </a:r>
            <a:endParaRPr lang="en-US" sz="950" dirty="0"/>
          </a:p>
        </p:txBody>
      </p:sp>
      <p:sp>
        <p:nvSpPr>
          <p:cNvPr id="19" name="Text 17"/>
          <p:cNvSpPr/>
          <p:nvPr/>
        </p:nvSpPr>
        <p:spPr>
          <a:xfrm>
            <a:off x="256032" y="3886200"/>
            <a:ext cx="8686800" cy="274320"/>
          </a:xfrm>
          <a:prstGeom prst="rect">
            <a:avLst/>
          </a:prstGeom>
          <a:noFill/>
          <a:ln/>
        </p:spPr>
        <p:txBody>
          <a:bodyPr wrap="square" lIns="0" tIns="0" rIns="0" bIns="0" rtlCol="0" anchor="ctr"/>
          <a:lstStyle/>
          <a:p>
            <a:pPr marL="0" indent="0">
              <a:buNone/>
            </a:pPr>
            <a:r>
              <a:rPr lang="en-US" sz="950" b="1" dirty="0">
                <a:solidFill>
                  <a:srgbClr val="003F87"/>
                </a:solidFill>
                <a:latin typeface="Calibri" pitchFamily="34" charset="0"/>
                <a:ea typeface="Calibri" pitchFamily="34" charset="-122"/>
                <a:cs typeface="Calibri" pitchFamily="34" charset="-120"/>
              </a:rPr>
              <a:t>Evaluated on Three Standard Benchmark Datasets:</a:t>
            </a:r>
            <a:endParaRPr lang="en-US" sz="950" dirty="0"/>
          </a:p>
        </p:txBody>
      </p:sp>
      <p:sp>
        <p:nvSpPr>
          <p:cNvPr id="20" name="Shape 18"/>
          <p:cNvSpPr/>
          <p:nvPr/>
        </p:nvSpPr>
        <p:spPr>
          <a:xfrm>
            <a:off x="256032" y="4187952"/>
            <a:ext cx="2743200" cy="566928"/>
          </a:xfrm>
          <a:prstGeom prst="rect">
            <a:avLst/>
          </a:prstGeom>
          <a:solidFill>
            <a:srgbClr val="EEF3FA"/>
          </a:solidFill>
          <a:ln w="12700">
            <a:solidFill>
              <a:srgbClr val="BBCDE8"/>
            </a:solidFill>
            <a:prstDash val="solid"/>
          </a:ln>
        </p:spPr>
        <p:txBody>
          <a:bodyPr/>
          <a:lstStyle/>
          <a:p>
            <a:endParaRPr lang="en-US"/>
          </a:p>
        </p:txBody>
      </p:sp>
      <p:sp>
        <p:nvSpPr>
          <p:cNvPr id="21" name="Text 19"/>
          <p:cNvSpPr/>
          <p:nvPr/>
        </p:nvSpPr>
        <p:spPr>
          <a:xfrm>
            <a:off x="384048" y="4224528"/>
            <a:ext cx="2487168" cy="237744"/>
          </a:xfrm>
          <a:prstGeom prst="rect">
            <a:avLst/>
          </a:prstGeom>
          <a:noFill/>
          <a:ln/>
        </p:spPr>
        <p:txBody>
          <a:bodyPr wrap="square" lIns="0" tIns="0" rIns="0" bIns="0" rtlCol="0" anchor="ctr"/>
          <a:lstStyle/>
          <a:p>
            <a:pPr marL="0" indent="0">
              <a:buNone/>
            </a:pPr>
            <a:r>
              <a:rPr lang="en-US" sz="1000" b="1" dirty="0">
                <a:solidFill>
                  <a:srgbClr val="003F87"/>
                </a:solidFill>
                <a:latin typeface="Calibri" pitchFamily="34" charset="0"/>
                <a:ea typeface="Calibri" pitchFamily="34" charset="-122"/>
                <a:cs typeface="Calibri" pitchFamily="34" charset="-120"/>
              </a:rPr>
              <a:t>CIC-IDS-2017</a:t>
            </a:r>
            <a:endParaRPr lang="en-US" sz="1000" dirty="0"/>
          </a:p>
        </p:txBody>
      </p:sp>
      <p:sp>
        <p:nvSpPr>
          <p:cNvPr id="22" name="Text 20"/>
          <p:cNvSpPr/>
          <p:nvPr/>
        </p:nvSpPr>
        <p:spPr>
          <a:xfrm>
            <a:off x="384048" y="4480560"/>
            <a:ext cx="2487168" cy="201168"/>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~2.8M records  ·  80 features</a:t>
            </a:r>
            <a:endParaRPr lang="en-US" sz="850" dirty="0"/>
          </a:p>
        </p:txBody>
      </p:sp>
      <p:sp>
        <p:nvSpPr>
          <p:cNvPr id="23" name="Shape 21"/>
          <p:cNvSpPr/>
          <p:nvPr/>
        </p:nvSpPr>
        <p:spPr>
          <a:xfrm>
            <a:off x="3163824" y="4187952"/>
            <a:ext cx="2743200" cy="566928"/>
          </a:xfrm>
          <a:prstGeom prst="rect">
            <a:avLst/>
          </a:prstGeom>
          <a:solidFill>
            <a:srgbClr val="EEF3FA"/>
          </a:solidFill>
          <a:ln w="12700">
            <a:solidFill>
              <a:srgbClr val="BBCDE8"/>
            </a:solidFill>
            <a:prstDash val="solid"/>
          </a:ln>
        </p:spPr>
        <p:txBody>
          <a:bodyPr/>
          <a:lstStyle/>
          <a:p>
            <a:endParaRPr lang="en-US"/>
          </a:p>
        </p:txBody>
      </p:sp>
      <p:sp>
        <p:nvSpPr>
          <p:cNvPr id="24" name="Text 22"/>
          <p:cNvSpPr/>
          <p:nvPr/>
        </p:nvSpPr>
        <p:spPr>
          <a:xfrm>
            <a:off x="3291840" y="4224528"/>
            <a:ext cx="2487168" cy="237744"/>
          </a:xfrm>
          <a:prstGeom prst="rect">
            <a:avLst/>
          </a:prstGeom>
          <a:noFill/>
          <a:ln/>
        </p:spPr>
        <p:txBody>
          <a:bodyPr wrap="square" lIns="0" tIns="0" rIns="0" bIns="0" rtlCol="0" anchor="ctr"/>
          <a:lstStyle/>
          <a:p>
            <a:pPr marL="0" indent="0">
              <a:buNone/>
            </a:pPr>
            <a:r>
              <a:rPr lang="en-US" sz="1000" b="1" dirty="0">
                <a:solidFill>
                  <a:srgbClr val="003F87"/>
                </a:solidFill>
                <a:latin typeface="Calibri" pitchFamily="34" charset="0"/>
                <a:ea typeface="Calibri" pitchFamily="34" charset="-122"/>
                <a:cs typeface="Calibri" pitchFamily="34" charset="-120"/>
              </a:rPr>
              <a:t>UNSW-NB15</a:t>
            </a:r>
            <a:endParaRPr lang="en-US" sz="1000" dirty="0"/>
          </a:p>
        </p:txBody>
      </p:sp>
      <p:sp>
        <p:nvSpPr>
          <p:cNvPr id="25" name="Text 23"/>
          <p:cNvSpPr/>
          <p:nvPr/>
        </p:nvSpPr>
        <p:spPr>
          <a:xfrm>
            <a:off x="3291840" y="4480560"/>
            <a:ext cx="2487168" cy="201168"/>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~447K records  ·  49 features</a:t>
            </a:r>
            <a:endParaRPr lang="en-US" sz="850" dirty="0"/>
          </a:p>
        </p:txBody>
      </p:sp>
      <p:sp>
        <p:nvSpPr>
          <p:cNvPr id="26" name="Shape 24"/>
          <p:cNvSpPr/>
          <p:nvPr/>
        </p:nvSpPr>
        <p:spPr>
          <a:xfrm>
            <a:off x="6071616" y="4187952"/>
            <a:ext cx="2743200" cy="566928"/>
          </a:xfrm>
          <a:prstGeom prst="rect">
            <a:avLst/>
          </a:prstGeom>
          <a:solidFill>
            <a:srgbClr val="EEF3FA"/>
          </a:solidFill>
          <a:ln w="12700">
            <a:solidFill>
              <a:srgbClr val="BBCDE8"/>
            </a:solidFill>
            <a:prstDash val="solid"/>
          </a:ln>
        </p:spPr>
        <p:txBody>
          <a:bodyPr/>
          <a:lstStyle/>
          <a:p>
            <a:endParaRPr lang="en-US"/>
          </a:p>
        </p:txBody>
      </p:sp>
      <p:sp>
        <p:nvSpPr>
          <p:cNvPr id="27" name="Text 25"/>
          <p:cNvSpPr/>
          <p:nvPr/>
        </p:nvSpPr>
        <p:spPr>
          <a:xfrm>
            <a:off x="6199632" y="4224528"/>
            <a:ext cx="2487168" cy="237744"/>
          </a:xfrm>
          <a:prstGeom prst="rect">
            <a:avLst/>
          </a:prstGeom>
          <a:noFill/>
          <a:ln/>
        </p:spPr>
        <p:txBody>
          <a:bodyPr wrap="square" lIns="0" tIns="0" rIns="0" bIns="0" rtlCol="0" anchor="ctr"/>
          <a:lstStyle/>
          <a:p>
            <a:pPr marL="0" indent="0">
              <a:buNone/>
            </a:pPr>
            <a:r>
              <a:rPr lang="en-US" sz="1000" b="1" dirty="0">
                <a:solidFill>
                  <a:srgbClr val="003F87"/>
                </a:solidFill>
                <a:latin typeface="Calibri" pitchFamily="34" charset="0"/>
                <a:ea typeface="Calibri" pitchFamily="34" charset="-122"/>
                <a:cs typeface="Calibri" pitchFamily="34" charset="-120"/>
              </a:rPr>
              <a:t>CIC-IDS-2018</a:t>
            </a:r>
            <a:endParaRPr lang="en-US" sz="1000" dirty="0"/>
          </a:p>
        </p:txBody>
      </p:sp>
      <p:sp>
        <p:nvSpPr>
          <p:cNvPr id="28" name="Text 26"/>
          <p:cNvSpPr/>
          <p:nvPr/>
        </p:nvSpPr>
        <p:spPr>
          <a:xfrm>
            <a:off x="6199632" y="4480560"/>
            <a:ext cx="2487168" cy="201168"/>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Sampled 90K  ·  80 features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II. Introduction</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Shape 5"/>
          <p:cNvSpPr/>
          <p:nvPr/>
        </p:nvSpPr>
        <p:spPr>
          <a:xfrm>
            <a:off x="256032" y="777240"/>
            <a:ext cx="8641080" cy="731520"/>
          </a:xfrm>
          <a:prstGeom prst="rect">
            <a:avLst/>
          </a:prstGeom>
          <a:solidFill>
            <a:srgbClr val="FFFFFF"/>
          </a:solidFill>
          <a:ln w="9525">
            <a:solidFill>
              <a:srgbClr val="BBCDE8"/>
            </a:solidFill>
            <a:prstDash val="solid"/>
          </a:ln>
        </p:spPr>
        <p:txBody>
          <a:bodyPr/>
          <a:lstStyle/>
          <a:p>
            <a:endParaRPr lang="en-US"/>
          </a:p>
        </p:txBody>
      </p:sp>
      <p:sp>
        <p:nvSpPr>
          <p:cNvPr id="8" name="Shape 6"/>
          <p:cNvSpPr/>
          <p:nvPr/>
        </p:nvSpPr>
        <p:spPr>
          <a:xfrm>
            <a:off x="256032" y="777240"/>
            <a:ext cx="64008" cy="731520"/>
          </a:xfrm>
          <a:prstGeom prst="rect">
            <a:avLst/>
          </a:prstGeom>
          <a:solidFill>
            <a:srgbClr val="2E7BC4"/>
          </a:solidFill>
          <a:ln w="12700">
            <a:solidFill>
              <a:srgbClr val="2E7BC4"/>
            </a:solidFill>
            <a:prstDash val="solid"/>
          </a:ln>
        </p:spPr>
        <p:txBody>
          <a:bodyPr/>
          <a:lstStyle/>
          <a:p>
            <a:endParaRPr lang="en-US"/>
          </a:p>
        </p:txBody>
      </p:sp>
      <p:sp>
        <p:nvSpPr>
          <p:cNvPr id="9" name="Text 7"/>
          <p:cNvSpPr/>
          <p:nvPr/>
        </p:nvSpPr>
        <p:spPr>
          <a:xfrm>
            <a:off x="384048" y="813816"/>
            <a:ext cx="658368" cy="274320"/>
          </a:xfrm>
          <a:prstGeom prst="rect">
            <a:avLst/>
          </a:prstGeom>
          <a:noFill/>
          <a:ln/>
        </p:spPr>
        <p:txBody>
          <a:bodyPr wrap="square" lIns="0" tIns="0" rIns="0" bIns="0" rtlCol="0" anchor="ctr"/>
          <a:lstStyle/>
          <a:p>
            <a:pPr marL="0" indent="0">
              <a:buNone/>
            </a:pPr>
            <a:r>
              <a:rPr lang="en-US" sz="900" b="1" dirty="0">
                <a:solidFill>
                  <a:srgbClr val="2E7BC4"/>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1097280" y="813816"/>
            <a:ext cx="2743200" cy="274320"/>
          </a:xfrm>
          <a:prstGeom prst="rect">
            <a:avLst/>
          </a:prstGeom>
          <a:noFill/>
          <a:ln/>
        </p:spPr>
        <p:txBody>
          <a:bodyPr wrap="square" lIns="0" tIns="0" rIns="0" bIns="0" rtlCol="0" anchor="ctr"/>
          <a:lstStyle/>
          <a:p>
            <a:pPr marL="0" indent="0">
              <a:buNone/>
            </a:pPr>
            <a:r>
              <a:rPr lang="en-US" sz="950" b="1" dirty="0">
                <a:solidFill>
                  <a:srgbClr val="003F87"/>
                </a:solidFill>
                <a:latin typeface="Calibri" pitchFamily="34" charset="0"/>
                <a:ea typeface="Calibri" pitchFamily="34" charset="-122"/>
                <a:cs typeface="Calibri" pitchFamily="34" charset="-120"/>
              </a:rPr>
              <a:t>Hook &amp; Motivation</a:t>
            </a:r>
            <a:endParaRPr lang="en-US" sz="950" dirty="0"/>
          </a:p>
        </p:txBody>
      </p:sp>
      <p:sp>
        <p:nvSpPr>
          <p:cNvPr id="11" name="Text 9"/>
          <p:cNvSpPr/>
          <p:nvPr/>
        </p:nvSpPr>
        <p:spPr>
          <a:xfrm>
            <a:off x="1097280" y="1106424"/>
            <a:ext cx="7589520" cy="384048"/>
          </a:xfrm>
          <a:prstGeom prst="rect">
            <a:avLst/>
          </a:prstGeom>
          <a:noFill/>
          <a:ln/>
        </p:spPr>
        <p:txBody>
          <a:bodyPr wrap="square" lIns="0" tIns="0" rIns="0" bIns="0" rtlCol="0" anchor="ctr"/>
          <a:lstStyle/>
          <a:p>
            <a:pPr marL="0" indent="0">
              <a:buNone/>
            </a:pPr>
            <a:r>
              <a:rPr lang="en-US" sz="880" dirty="0">
                <a:solidFill>
                  <a:srgbClr val="1A1A2E"/>
                </a:solidFill>
                <a:latin typeface="Calibri" pitchFamily="34" charset="0"/>
                <a:ea typeface="Calibri" pitchFamily="34" charset="-122"/>
                <a:cs typeface="Calibri" pitchFamily="34" charset="-120"/>
              </a:rPr>
              <a:t>WAFs must detect a growing spectrum of malicious traffic without operational latency. Attack traffic is heterogeneous, class distributions are heavily imbalanced, and models that perform well on one benchmark often degrade sharply in another environment.</a:t>
            </a:r>
            <a:endParaRPr lang="en-US" sz="880" dirty="0"/>
          </a:p>
        </p:txBody>
      </p:sp>
      <p:sp>
        <p:nvSpPr>
          <p:cNvPr id="12" name="Shape 10"/>
          <p:cNvSpPr/>
          <p:nvPr/>
        </p:nvSpPr>
        <p:spPr>
          <a:xfrm>
            <a:off x="256032" y="1581912"/>
            <a:ext cx="8641080" cy="731520"/>
          </a:xfrm>
          <a:prstGeom prst="rect">
            <a:avLst/>
          </a:prstGeom>
          <a:solidFill>
            <a:srgbClr val="FFFFFF"/>
          </a:solidFill>
          <a:ln w="9525">
            <a:solidFill>
              <a:srgbClr val="BBCDE8"/>
            </a:solidFill>
            <a:prstDash val="solid"/>
          </a:ln>
        </p:spPr>
        <p:txBody>
          <a:bodyPr/>
          <a:lstStyle/>
          <a:p>
            <a:endParaRPr lang="en-US"/>
          </a:p>
        </p:txBody>
      </p:sp>
      <p:sp>
        <p:nvSpPr>
          <p:cNvPr id="13" name="Shape 11"/>
          <p:cNvSpPr/>
          <p:nvPr/>
        </p:nvSpPr>
        <p:spPr>
          <a:xfrm>
            <a:off x="256032" y="1581912"/>
            <a:ext cx="64008" cy="731520"/>
          </a:xfrm>
          <a:prstGeom prst="rect">
            <a:avLst/>
          </a:prstGeom>
          <a:solidFill>
            <a:srgbClr val="2E7BC4"/>
          </a:solidFill>
          <a:ln w="12700">
            <a:solidFill>
              <a:srgbClr val="2E7BC4"/>
            </a:solidFill>
            <a:prstDash val="solid"/>
          </a:ln>
        </p:spPr>
        <p:txBody>
          <a:bodyPr/>
          <a:lstStyle/>
          <a:p>
            <a:endParaRPr lang="en-US"/>
          </a:p>
        </p:txBody>
      </p:sp>
      <p:sp>
        <p:nvSpPr>
          <p:cNvPr id="14" name="Text 12"/>
          <p:cNvSpPr/>
          <p:nvPr/>
        </p:nvSpPr>
        <p:spPr>
          <a:xfrm>
            <a:off x="384048" y="1618488"/>
            <a:ext cx="658368" cy="274320"/>
          </a:xfrm>
          <a:prstGeom prst="rect">
            <a:avLst/>
          </a:prstGeom>
          <a:noFill/>
          <a:ln/>
        </p:spPr>
        <p:txBody>
          <a:bodyPr wrap="square" lIns="0" tIns="0" rIns="0" bIns="0" rtlCol="0" anchor="ctr"/>
          <a:lstStyle/>
          <a:p>
            <a:pPr marL="0" indent="0">
              <a:buNone/>
            </a:pPr>
            <a:r>
              <a:rPr lang="en-US" sz="900" b="1" dirty="0">
                <a:solidFill>
                  <a:srgbClr val="2E7BC4"/>
                </a:solidFill>
                <a:latin typeface="Calibri" pitchFamily="34" charset="0"/>
                <a:ea typeface="Calibri" pitchFamily="34" charset="-122"/>
                <a:cs typeface="Calibri" pitchFamily="34" charset="-120"/>
              </a:rPr>
              <a:t>¶2</a:t>
            </a:r>
            <a:endParaRPr lang="en-US" sz="900" dirty="0"/>
          </a:p>
        </p:txBody>
      </p:sp>
      <p:sp>
        <p:nvSpPr>
          <p:cNvPr id="15" name="Text 13"/>
          <p:cNvSpPr/>
          <p:nvPr/>
        </p:nvSpPr>
        <p:spPr>
          <a:xfrm>
            <a:off x="1097280" y="1618488"/>
            <a:ext cx="2743200" cy="274320"/>
          </a:xfrm>
          <a:prstGeom prst="rect">
            <a:avLst/>
          </a:prstGeom>
          <a:noFill/>
          <a:ln/>
        </p:spPr>
        <p:txBody>
          <a:bodyPr wrap="square" lIns="0" tIns="0" rIns="0" bIns="0" rtlCol="0" anchor="ctr"/>
          <a:lstStyle/>
          <a:p>
            <a:pPr marL="0" indent="0">
              <a:buNone/>
            </a:pPr>
            <a:r>
              <a:rPr lang="en-US" sz="950" b="1" dirty="0">
                <a:solidFill>
                  <a:srgbClr val="003F87"/>
                </a:solidFill>
                <a:latin typeface="Calibri" pitchFamily="34" charset="0"/>
                <a:ea typeface="Calibri" pitchFamily="34" charset="-122"/>
                <a:cs typeface="Calibri" pitchFamily="34" charset="-120"/>
              </a:rPr>
              <a:t>The Problem</a:t>
            </a:r>
            <a:endParaRPr lang="en-US" sz="950" dirty="0"/>
          </a:p>
        </p:txBody>
      </p:sp>
      <p:sp>
        <p:nvSpPr>
          <p:cNvPr id="16" name="Text 14"/>
          <p:cNvSpPr/>
          <p:nvPr/>
        </p:nvSpPr>
        <p:spPr>
          <a:xfrm>
            <a:off x="1097280" y="1911096"/>
            <a:ext cx="7589520" cy="384048"/>
          </a:xfrm>
          <a:prstGeom prst="rect">
            <a:avLst/>
          </a:prstGeom>
          <a:noFill/>
          <a:ln/>
        </p:spPr>
        <p:txBody>
          <a:bodyPr wrap="square" lIns="0" tIns="0" rIns="0" bIns="0" rtlCol="0" anchor="ctr"/>
          <a:lstStyle/>
          <a:p>
            <a:pPr marL="0" indent="0">
              <a:buNone/>
            </a:pPr>
            <a:r>
              <a:rPr lang="en-US" sz="880" dirty="0">
                <a:solidFill>
                  <a:srgbClr val="1A1A2E"/>
                </a:solidFill>
                <a:latin typeface="Calibri" pitchFamily="34" charset="0"/>
                <a:ea typeface="Calibri" pitchFamily="34" charset="-122"/>
                <a:cs typeface="Calibri" pitchFamily="34" charset="-120"/>
              </a:rPr>
              <a:t>Many IDS studies rely on single-dataset evaluation, which can obscure whether a model learns general traffic structure or only the biases of a specific corpus — hiding the real deployment gap.</a:t>
            </a:r>
            <a:endParaRPr lang="en-US" sz="880" dirty="0"/>
          </a:p>
        </p:txBody>
      </p:sp>
      <p:sp>
        <p:nvSpPr>
          <p:cNvPr id="17" name="Shape 15"/>
          <p:cNvSpPr/>
          <p:nvPr/>
        </p:nvSpPr>
        <p:spPr>
          <a:xfrm>
            <a:off x="256032" y="2386584"/>
            <a:ext cx="8641080" cy="731520"/>
          </a:xfrm>
          <a:prstGeom prst="rect">
            <a:avLst/>
          </a:prstGeom>
          <a:solidFill>
            <a:srgbClr val="FFFFFF"/>
          </a:solidFill>
          <a:ln w="9525">
            <a:solidFill>
              <a:srgbClr val="BBCDE8"/>
            </a:solidFill>
            <a:prstDash val="solid"/>
          </a:ln>
        </p:spPr>
        <p:txBody>
          <a:bodyPr/>
          <a:lstStyle/>
          <a:p>
            <a:endParaRPr lang="en-US"/>
          </a:p>
        </p:txBody>
      </p:sp>
      <p:sp>
        <p:nvSpPr>
          <p:cNvPr id="18" name="Shape 16"/>
          <p:cNvSpPr/>
          <p:nvPr/>
        </p:nvSpPr>
        <p:spPr>
          <a:xfrm>
            <a:off x="256032" y="2386584"/>
            <a:ext cx="64008" cy="731520"/>
          </a:xfrm>
          <a:prstGeom prst="rect">
            <a:avLst/>
          </a:prstGeom>
          <a:solidFill>
            <a:srgbClr val="2E7BC4"/>
          </a:solidFill>
          <a:ln w="12700">
            <a:solidFill>
              <a:srgbClr val="2E7BC4"/>
            </a:solidFill>
            <a:prstDash val="solid"/>
          </a:ln>
        </p:spPr>
        <p:txBody>
          <a:bodyPr/>
          <a:lstStyle/>
          <a:p>
            <a:endParaRPr lang="en-US"/>
          </a:p>
        </p:txBody>
      </p:sp>
      <p:sp>
        <p:nvSpPr>
          <p:cNvPr id="19" name="Text 17"/>
          <p:cNvSpPr/>
          <p:nvPr/>
        </p:nvSpPr>
        <p:spPr>
          <a:xfrm>
            <a:off x="384048" y="2423160"/>
            <a:ext cx="658368" cy="274320"/>
          </a:xfrm>
          <a:prstGeom prst="rect">
            <a:avLst/>
          </a:prstGeom>
          <a:noFill/>
          <a:ln/>
        </p:spPr>
        <p:txBody>
          <a:bodyPr wrap="square" lIns="0" tIns="0" rIns="0" bIns="0" rtlCol="0" anchor="ctr"/>
          <a:lstStyle/>
          <a:p>
            <a:pPr marL="0" indent="0">
              <a:buNone/>
            </a:pPr>
            <a:r>
              <a:rPr lang="en-US" sz="900" b="1" dirty="0">
                <a:solidFill>
                  <a:srgbClr val="2E7BC4"/>
                </a:solidFill>
                <a:latin typeface="Calibri" pitchFamily="34" charset="0"/>
                <a:ea typeface="Calibri" pitchFamily="34" charset="-122"/>
                <a:cs typeface="Calibri" pitchFamily="34" charset="-120"/>
              </a:rPr>
              <a:t>¶3</a:t>
            </a:r>
            <a:endParaRPr lang="en-US" sz="900" dirty="0"/>
          </a:p>
        </p:txBody>
      </p:sp>
      <p:sp>
        <p:nvSpPr>
          <p:cNvPr id="20" name="Text 18"/>
          <p:cNvSpPr/>
          <p:nvPr/>
        </p:nvSpPr>
        <p:spPr>
          <a:xfrm>
            <a:off x="1097280" y="2423160"/>
            <a:ext cx="2743200" cy="274320"/>
          </a:xfrm>
          <a:prstGeom prst="rect">
            <a:avLst/>
          </a:prstGeom>
          <a:noFill/>
          <a:ln/>
        </p:spPr>
        <p:txBody>
          <a:bodyPr wrap="square" lIns="0" tIns="0" rIns="0" bIns="0" rtlCol="0" anchor="ctr"/>
          <a:lstStyle/>
          <a:p>
            <a:pPr marL="0" indent="0">
              <a:buNone/>
            </a:pPr>
            <a:r>
              <a:rPr lang="en-US" sz="950" b="1" dirty="0">
                <a:solidFill>
                  <a:srgbClr val="003F87"/>
                </a:solidFill>
                <a:latin typeface="Calibri" pitchFamily="34" charset="0"/>
                <a:ea typeface="Calibri" pitchFamily="34" charset="-122"/>
                <a:cs typeface="Calibri" pitchFamily="34" charset="-120"/>
              </a:rPr>
              <a:t>Existing Solutions &amp; Gaps</a:t>
            </a:r>
            <a:endParaRPr lang="en-US" sz="950" dirty="0"/>
          </a:p>
        </p:txBody>
      </p:sp>
      <p:sp>
        <p:nvSpPr>
          <p:cNvPr id="21" name="Text 19"/>
          <p:cNvSpPr/>
          <p:nvPr/>
        </p:nvSpPr>
        <p:spPr>
          <a:xfrm>
            <a:off x="1097280" y="2715768"/>
            <a:ext cx="7589520" cy="384048"/>
          </a:xfrm>
          <a:prstGeom prst="rect">
            <a:avLst/>
          </a:prstGeom>
          <a:noFill/>
          <a:ln/>
        </p:spPr>
        <p:txBody>
          <a:bodyPr wrap="square" lIns="0" tIns="0" rIns="0" bIns="0" rtlCol="0" anchor="ctr"/>
          <a:lstStyle/>
          <a:p>
            <a:pPr marL="0" indent="0">
              <a:buNone/>
            </a:pPr>
            <a:r>
              <a:rPr lang="en-US" sz="880" dirty="0">
                <a:solidFill>
                  <a:srgbClr val="1A1A2E"/>
                </a:solidFill>
                <a:latin typeface="Calibri" pitchFamily="34" charset="0"/>
                <a:ea typeface="Calibri" pitchFamily="34" charset="-122"/>
                <a:cs typeface="Calibri" pitchFamily="34" charset="-120"/>
              </a:rPr>
              <a:t>Prior ensemble and SMOTE-based work showed preprocessing + model diversity matter. Yet many systems stop at internal validation and do not quantify cross-dataset transfer behavior.</a:t>
            </a:r>
            <a:endParaRPr lang="en-US" sz="880" dirty="0"/>
          </a:p>
        </p:txBody>
      </p:sp>
      <p:sp>
        <p:nvSpPr>
          <p:cNvPr id="22" name="Shape 20"/>
          <p:cNvSpPr/>
          <p:nvPr/>
        </p:nvSpPr>
        <p:spPr>
          <a:xfrm>
            <a:off x="256032" y="3191256"/>
            <a:ext cx="8641080" cy="731520"/>
          </a:xfrm>
          <a:prstGeom prst="rect">
            <a:avLst/>
          </a:prstGeom>
          <a:solidFill>
            <a:srgbClr val="EEF3FA"/>
          </a:solidFill>
          <a:ln w="19050">
            <a:solidFill>
              <a:srgbClr val="003F87"/>
            </a:solidFill>
            <a:prstDash val="solid"/>
          </a:ln>
        </p:spPr>
        <p:txBody>
          <a:bodyPr/>
          <a:lstStyle/>
          <a:p>
            <a:endParaRPr lang="en-US"/>
          </a:p>
        </p:txBody>
      </p:sp>
      <p:sp>
        <p:nvSpPr>
          <p:cNvPr id="23" name="Shape 21"/>
          <p:cNvSpPr/>
          <p:nvPr/>
        </p:nvSpPr>
        <p:spPr>
          <a:xfrm>
            <a:off x="256032" y="3191256"/>
            <a:ext cx="64008" cy="731520"/>
          </a:xfrm>
          <a:prstGeom prst="rect">
            <a:avLst/>
          </a:prstGeom>
          <a:solidFill>
            <a:srgbClr val="C8870A"/>
          </a:solidFill>
          <a:ln w="12700">
            <a:solidFill>
              <a:srgbClr val="C8870A"/>
            </a:solidFill>
            <a:prstDash val="solid"/>
          </a:ln>
        </p:spPr>
        <p:txBody>
          <a:bodyPr/>
          <a:lstStyle/>
          <a:p>
            <a:endParaRPr lang="en-US"/>
          </a:p>
        </p:txBody>
      </p:sp>
      <p:sp>
        <p:nvSpPr>
          <p:cNvPr id="24" name="Text 22"/>
          <p:cNvSpPr/>
          <p:nvPr/>
        </p:nvSpPr>
        <p:spPr>
          <a:xfrm>
            <a:off x="384048" y="3227832"/>
            <a:ext cx="658368" cy="274320"/>
          </a:xfrm>
          <a:prstGeom prst="rect">
            <a:avLst/>
          </a:prstGeom>
          <a:noFill/>
          <a:ln/>
        </p:spPr>
        <p:txBody>
          <a:bodyPr wrap="square" lIns="0" tIns="0" rIns="0" bIns="0" rtlCol="0" anchor="ctr"/>
          <a:lstStyle/>
          <a:p>
            <a:pPr marL="0" indent="0">
              <a:buNone/>
            </a:pPr>
            <a:r>
              <a:rPr lang="en-US" sz="900" b="1" dirty="0">
                <a:solidFill>
                  <a:srgbClr val="C8870A"/>
                </a:solidFill>
                <a:latin typeface="Calibri" pitchFamily="34" charset="0"/>
                <a:ea typeface="Calibri" pitchFamily="34" charset="-122"/>
                <a:cs typeface="Calibri" pitchFamily="34" charset="-120"/>
              </a:rPr>
              <a:t>¶4 ★</a:t>
            </a:r>
            <a:endParaRPr lang="en-US" sz="900" dirty="0"/>
          </a:p>
        </p:txBody>
      </p:sp>
      <p:sp>
        <p:nvSpPr>
          <p:cNvPr id="25" name="Text 23"/>
          <p:cNvSpPr/>
          <p:nvPr/>
        </p:nvSpPr>
        <p:spPr>
          <a:xfrm>
            <a:off x="1097280" y="3227832"/>
            <a:ext cx="2743200" cy="274320"/>
          </a:xfrm>
          <a:prstGeom prst="rect">
            <a:avLst/>
          </a:prstGeom>
          <a:noFill/>
          <a:ln/>
        </p:spPr>
        <p:txBody>
          <a:bodyPr wrap="square" lIns="0" tIns="0" rIns="0" bIns="0" rtlCol="0" anchor="ctr"/>
          <a:lstStyle/>
          <a:p>
            <a:pPr marL="0" indent="0">
              <a:buNone/>
            </a:pPr>
            <a:r>
              <a:rPr lang="en-US" sz="950" b="1" dirty="0">
                <a:solidFill>
                  <a:srgbClr val="003F87"/>
                </a:solidFill>
                <a:latin typeface="Calibri" pitchFamily="34" charset="0"/>
                <a:ea typeface="Calibri" pitchFamily="34" charset="-122"/>
                <a:cs typeface="Calibri" pitchFamily="34" charset="-120"/>
              </a:rPr>
              <a:t>Our Contributions  (Novelty Statement)</a:t>
            </a:r>
            <a:endParaRPr lang="en-US" sz="950" dirty="0"/>
          </a:p>
        </p:txBody>
      </p:sp>
      <p:sp>
        <p:nvSpPr>
          <p:cNvPr id="26" name="Text 24"/>
          <p:cNvSpPr/>
          <p:nvPr/>
        </p:nvSpPr>
        <p:spPr>
          <a:xfrm>
            <a:off x="1097280" y="3520440"/>
            <a:ext cx="7589520" cy="384048"/>
          </a:xfrm>
          <a:prstGeom prst="rect">
            <a:avLst/>
          </a:prstGeom>
          <a:noFill/>
          <a:ln/>
        </p:spPr>
        <p:txBody>
          <a:bodyPr wrap="square" lIns="0" tIns="0" rIns="0" bIns="0" rtlCol="0" anchor="ctr"/>
          <a:lstStyle/>
          <a:p>
            <a:pPr marL="0" indent="0">
              <a:buNone/>
            </a:pPr>
            <a:r>
              <a:rPr lang="en-US" sz="880" dirty="0">
                <a:solidFill>
                  <a:srgbClr val="1A1A2E"/>
                </a:solidFill>
                <a:latin typeface="Calibri" pitchFamily="34" charset="0"/>
                <a:ea typeface="Calibri" pitchFamily="34" charset="-122"/>
                <a:cs typeface="Calibri" pitchFamily="34" charset="-120"/>
              </a:rPr>
              <a:t>① Compact ensemble architecture for multi-threat WAF detection compatible with flow-based telemetry</a:t>
            </a:r>
            <a:endParaRPr lang="en-US" sz="880" dirty="0"/>
          </a:p>
          <a:p>
            <a:pPr marL="0" indent="0">
              <a:buNone/>
            </a:pPr>
            <a:r>
              <a:rPr lang="en-US" sz="880" dirty="0">
                <a:solidFill>
                  <a:srgbClr val="1A1A2E"/>
                </a:solidFill>
                <a:latin typeface="Calibri" pitchFamily="34" charset="0"/>
                <a:ea typeface="Calibri" pitchFamily="34" charset="-122"/>
                <a:cs typeface="Calibri" pitchFamily="34" charset="-120"/>
              </a:rPr>
              <a:t>② Complete evaluation across 3 benchmark datasets with ablation study</a:t>
            </a:r>
            <a:endParaRPr lang="en-US" sz="880" dirty="0"/>
          </a:p>
          <a:p>
            <a:pPr marL="0" indent="0">
              <a:buNone/>
            </a:pPr>
            <a:r>
              <a:rPr lang="en-US" sz="880" dirty="0">
                <a:solidFill>
                  <a:srgbClr val="1A1A2E"/>
                </a:solidFill>
                <a:latin typeface="Calibri" pitchFamily="34" charset="0"/>
                <a:ea typeface="Calibri" pitchFamily="34" charset="-122"/>
                <a:cs typeface="Calibri" pitchFamily="34" charset="-120"/>
              </a:rPr>
              <a:t>③ Cross-dataset testing to explicitly expose dataset-shift sensitivity</a:t>
            </a:r>
            <a:endParaRPr lang="en-US" sz="880" dirty="0"/>
          </a:p>
        </p:txBody>
      </p:sp>
      <p:sp>
        <p:nvSpPr>
          <p:cNvPr id="27" name="Shape 25"/>
          <p:cNvSpPr/>
          <p:nvPr/>
        </p:nvSpPr>
        <p:spPr>
          <a:xfrm>
            <a:off x="256032" y="3995928"/>
            <a:ext cx="8641080" cy="731520"/>
          </a:xfrm>
          <a:prstGeom prst="rect">
            <a:avLst/>
          </a:prstGeom>
          <a:solidFill>
            <a:srgbClr val="FFFFFF"/>
          </a:solidFill>
          <a:ln w="9525">
            <a:solidFill>
              <a:srgbClr val="BBCDE8"/>
            </a:solidFill>
            <a:prstDash val="solid"/>
          </a:ln>
        </p:spPr>
        <p:txBody>
          <a:bodyPr/>
          <a:lstStyle/>
          <a:p>
            <a:endParaRPr lang="en-US"/>
          </a:p>
        </p:txBody>
      </p:sp>
      <p:sp>
        <p:nvSpPr>
          <p:cNvPr id="28" name="Shape 26"/>
          <p:cNvSpPr/>
          <p:nvPr/>
        </p:nvSpPr>
        <p:spPr>
          <a:xfrm>
            <a:off x="256032" y="3995928"/>
            <a:ext cx="64008" cy="731520"/>
          </a:xfrm>
          <a:prstGeom prst="rect">
            <a:avLst/>
          </a:prstGeom>
          <a:solidFill>
            <a:srgbClr val="2E7BC4"/>
          </a:solidFill>
          <a:ln w="12700">
            <a:solidFill>
              <a:srgbClr val="2E7BC4"/>
            </a:solidFill>
            <a:prstDash val="solid"/>
          </a:ln>
        </p:spPr>
        <p:txBody>
          <a:bodyPr/>
          <a:lstStyle/>
          <a:p>
            <a:endParaRPr lang="en-US"/>
          </a:p>
        </p:txBody>
      </p:sp>
      <p:sp>
        <p:nvSpPr>
          <p:cNvPr id="29" name="Text 27"/>
          <p:cNvSpPr/>
          <p:nvPr/>
        </p:nvSpPr>
        <p:spPr>
          <a:xfrm>
            <a:off x="384048" y="4032504"/>
            <a:ext cx="658368" cy="274320"/>
          </a:xfrm>
          <a:prstGeom prst="rect">
            <a:avLst/>
          </a:prstGeom>
          <a:noFill/>
          <a:ln/>
        </p:spPr>
        <p:txBody>
          <a:bodyPr wrap="square" lIns="0" tIns="0" rIns="0" bIns="0" rtlCol="0" anchor="ctr"/>
          <a:lstStyle/>
          <a:p>
            <a:pPr marL="0" indent="0">
              <a:buNone/>
            </a:pPr>
            <a:r>
              <a:rPr lang="en-US" sz="900" b="1" dirty="0">
                <a:solidFill>
                  <a:srgbClr val="2E7BC4"/>
                </a:solidFill>
                <a:latin typeface="Calibri" pitchFamily="34" charset="0"/>
                <a:ea typeface="Calibri" pitchFamily="34" charset="-122"/>
                <a:cs typeface="Calibri" pitchFamily="34" charset="-120"/>
              </a:rPr>
              <a:t>¶5</a:t>
            </a:r>
            <a:endParaRPr lang="en-US" sz="900" dirty="0"/>
          </a:p>
        </p:txBody>
      </p:sp>
      <p:sp>
        <p:nvSpPr>
          <p:cNvPr id="30" name="Text 28"/>
          <p:cNvSpPr/>
          <p:nvPr/>
        </p:nvSpPr>
        <p:spPr>
          <a:xfrm>
            <a:off x="1097280" y="4032504"/>
            <a:ext cx="2743200" cy="274320"/>
          </a:xfrm>
          <a:prstGeom prst="rect">
            <a:avLst/>
          </a:prstGeom>
          <a:noFill/>
          <a:ln/>
        </p:spPr>
        <p:txBody>
          <a:bodyPr wrap="square" lIns="0" tIns="0" rIns="0" bIns="0" rtlCol="0" anchor="ctr"/>
          <a:lstStyle/>
          <a:p>
            <a:pPr marL="0" indent="0">
              <a:buNone/>
            </a:pPr>
            <a:r>
              <a:rPr lang="en-US" sz="950" b="1" dirty="0">
                <a:solidFill>
                  <a:srgbClr val="003F87"/>
                </a:solidFill>
                <a:latin typeface="Calibri" pitchFamily="34" charset="0"/>
                <a:ea typeface="Calibri" pitchFamily="34" charset="-122"/>
                <a:cs typeface="Calibri" pitchFamily="34" charset="-120"/>
              </a:rPr>
              <a:t>Paper Organization</a:t>
            </a:r>
            <a:endParaRPr lang="en-US" sz="950" dirty="0"/>
          </a:p>
        </p:txBody>
      </p:sp>
      <p:sp>
        <p:nvSpPr>
          <p:cNvPr id="31" name="Text 29"/>
          <p:cNvSpPr/>
          <p:nvPr/>
        </p:nvSpPr>
        <p:spPr>
          <a:xfrm>
            <a:off x="1097280" y="4325112"/>
            <a:ext cx="7589520" cy="384048"/>
          </a:xfrm>
          <a:prstGeom prst="rect">
            <a:avLst/>
          </a:prstGeom>
          <a:noFill/>
          <a:ln/>
        </p:spPr>
        <p:txBody>
          <a:bodyPr wrap="square" lIns="0" tIns="0" rIns="0" bIns="0" rtlCol="0" anchor="ctr"/>
          <a:lstStyle/>
          <a:p>
            <a:pPr marL="0" indent="0">
              <a:buNone/>
            </a:pPr>
            <a:r>
              <a:rPr lang="en-US" sz="880" dirty="0">
                <a:solidFill>
                  <a:srgbClr val="1A1A2E"/>
                </a:solidFill>
                <a:latin typeface="Calibri" pitchFamily="34" charset="0"/>
                <a:ea typeface="Calibri" pitchFamily="34" charset="-122"/>
                <a:cs typeface="Calibri" pitchFamily="34" charset="-120"/>
              </a:rPr>
              <a:t>Sec. II: Related Work  ·  Sec. III: Methodology  ·  Sec. IV: Results &amp; Discussion  ·  Sec. V: Conclusion</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III. Related Work</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Shape 5"/>
          <p:cNvSpPr/>
          <p:nvPr/>
        </p:nvSpPr>
        <p:spPr>
          <a:xfrm>
            <a:off x="256032" y="804672"/>
            <a:ext cx="2743200" cy="3657600"/>
          </a:xfrm>
          <a:prstGeom prst="rect">
            <a:avLst/>
          </a:prstGeom>
          <a:solidFill>
            <a:srgbClr val="FFFFFF"/>
          </a:solidFill>
          <a:ln w="9525">
            <a:solidFill>
              <a:srgbClr val="BBCDE8"/>
            </a:solidFill>
            <a:prstDash val="solid"/>
          </a:ln>
          <a:effectLst>
            <a:outerShdw blurRad="63500" dist="25400" dir="8100000" algn="bl" rotWithShape="0">
              <a:srgbClr val="AAAAAA">
                <a:alpha val="18000"/>
              </a:srgbClr>
            </a:outerShdw>
          </a:effectLst>
        </p:spPr>
        <p:txBody>
          <a:bodyPr/>
          <a:lstStyle/>
          <a:p>
            <a:endParaRPr lang="en-US"/>
          </a:p>
        </p:txBody>
      </p:sp>
      <p:sp>
        <p:nvSpPr>
          <p:cNvPr id="8" name="Shape 6"/>
          <p:cNvSpPr/>
          <p:nvPr/>
        </p:nvSpPr>
        <p:spPr>
          <a:xfrm>
            <a:off x="256032" y="804672"/>
            <a:ext cx="2743200" cy="347472"/>
          </a:xfrm>
          <a:prstGeom prst="rect">
            <a:avLst/>
          </a:prstGeom>
          <a:solidFill>
            <a:srgbClr val="003F87"/>
          </a:solidFill>
          <a:ln w="12700">
            <a:solidFill>
              <a:srgbClr val="003F87"/>
            </a:solidFill>
            <a:prstDash val="solid"/>
          </a:ln>
        </p:spPr>
        <p:txBody>
          <a:bodyPr/>
          <a:lstStyle/>
          <a:p>
            <a:endParaRPr lang="en-US"/>
          </a:p>
        </p:txBody>
      </p:sp>
      <p:sp>
        <p:nvSpPr>
          <p:cNvPr id="9" name="Text 7"/>
          <p:cNvSpPr/>
          <p:nvPr/>
        </p:nvSpPr>
        <p:spPr>
          <a:xfrm>
            <a:off x="365760" y="804672"/>
            <a:ext cx="2523744" cy="164592"/>
          </a:xfrm>
          <a:prstGeom prst="rect">
            <a:avLst/>
          </a:prstGeom>
          <a:noFill/>
          <a:ln/>
        </p:spPr>
        <p:txBody>
          <a:bodyPr wrap="square" lIns="0" tIns="0" rIns="0" bIns="0" rtlCol="0" anchor="ctr"/>
          <a:lstStyle/>
          <a:p>
            <a:pPr marL="0" indent="0">
              <a:buNone/>
            </a:pPr>
            <a:r>
              <a:rPr lang="en-US" sz="750" b="1" dirty="0">
                <a:solidFill>
                  <a:srgbClr val="AECDFF"/>
                </a:solidFill>
                <a:latin typeface="Calibri" pitchFamily="34" charset="0"/>
                <a:ea typeface="Calibri" pitchFamily="34" charset="-122"/>
                <a:cs typeface="Calibri" pitchFamily="34" charset="-120"/>
              </a:rPr>
              <a:t>Cluster 1</a:t>
            </a:r>
            <a:endParaRPr lang="en-US" sz="750" dirty="0"/>
          </a:p>
        </p:txBody>
      </p:sp>
      <p:sp>
        <p:nvSpPr>
          <p:cNvPr id="10" name="Text 8"/>
          <p:cNvSpPr/>
          <p:nvPr/>
        </p:nvSpPr>
        <p:spPr>
          <a:xfrm>
            <a:off x="365760" y="960120"/>
            <a:ext cx="2523744" cy="20116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Ensemble &amp; Base Learner Methods</a:t>
            </a:r>
            <a:endParaRPr lang="en-US" sz="850" dirty="0"/>
          </a:p>
        </p:txBody>
      </p:sp>
      <p:sp>
        <p:nvSpPr>
          <p:cNvPr id="11" name="Text 9"/>
          <p:cNvSpPr/>
          <p:nvPr/>
        </p:nvSpPr>
        <p:spPr>
          <a:xfrm>
            <a:off x="384048" y="1234440"/>
            <a:ext cx="2487168" cy="219456"/>
          </a:xfrm>
          <a:prstGeom prst="rect">
            <a:avLst/>
          </a:prstGeom>
          <a:noFill/>
          <a:ln/>
        </p:spPr>
        <p:txBody>
          <a:bodyPr wrap="square" lIns="0" tIns="0" rIns="0" bIns="0" rtlCol="0" anchor="ctr"/>
          <a:lstStyle/>
          <a:p>
            <a:pPr marL="0" indent="0">
              <a:buNone/>
            </a:pPr>
            <a:r>
              <a:rPr lang="en-US" sz="800" dirty="0">
                <a:solidFill>
                  <a:srgbClr val="2E7BC4"/>
                </a:solidFill>
                <a:latin typeface="Calibri" pitchFamily="34" charset="0"/>
                <a:ea typeface="Calibri" pitchFamily="34" charset="-122"/>
                <a:cs typeface="Calibri" pitchFamily="34" charset="-120"/>
              </a:rPr>
              <a:t>[1] [2] [3] [7] [8] [9]</a:t>
            </a:r>
            <a:endParaRPr lang="en-US" sz="800" dirty="0"/>
          </a:p>
        </p:txBody>
      </p:sp>
      <p:sp>
        <p:nvSpPr>
          <p:cNvPr id="12" name="Text 10"/>
          <p:cNvSpPr/>
          <p:nvPr/>
        </p:nvSpPr>
        <p:spPr>
          <a:xfrm>
            <a:off x="384048" y="1508760"/>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KNN established as baseline for IDS discrimination [1]</a:t>
            </a:r>
            <a:endParaRPr lang="en-US" sz="880" dirty="0"/>
          </a:p>
        </p:txBody>
      </p:sp>
      <p:sp>
        <p:nvSpPr>
          <p:cNvPr id="13" name="Text 11"/>
          <p:cNvSpPr/>
          <p:nvPr/>
        </p:nvSpPr>
        <p:spPr>
          <a:xfrm>
            <a:off x="384048" y="2020824"/>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Bagging &amp; Random Forests: strong tabular baselines [2]</a:t>
            </a:r>
            <a:endParaRPr lang="en-US" sz="880" dirty="0"/>
          </a:p>
        </p:txBody>
      </p:sp>
      <p:sp>
        <p:nvSpPr>
          <p:cNvPr id="14" name="Text 12"/>
          <p:cNvSpPr/>
          <p:nvPr/>
        </p:nvSpPr>
        <p:spPr>
          <a:xfrm>
            <a:off x="384048" y="2532888"/>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XGBoost: gradient boosting for nonlinear features [3]</a:t>
            </a:r>
            <a:endParaRPr lang="en-US" sz="880" dirty="0"/>
          </a:p>
        </p:txBody>
      </p:sp>
      <p:sp>
        <p:nvSpPr>
          <p:cNvPr id="15" name="Text 13"/>
          <p:cNvSpPr/>
          <p:nvPr/>
        </p:nvSpPr>
        <p:spPr>
          <a:xfrm>
            <a:off x="384048" y="3044952"/>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Soft voting aggregates calibrated probabilities [7][9]</a:t>
            </a:r>
            <a:endParaRPr lang="en-US" sz="880" dirty="0"/>
          </a:p>
        </p:txBody>
      </p:sp>
      <p:sp>
        <p:nvSpPr>
          <p:cNvPr id="16" name="Shape 14"/>
          <p:cNvSpPr/>
          <p:nvPr/>
        </p:nvSpPr>
        <p:spPr>
          <a:xfrm>
            <a:off x="3163824" y="804672"/>
            <a:ext cx="2743200" cy="3657600"/>
          </a:xfrm>
          <a:prstGeom prst="rect">
            <a:avLst/>
          </a:prstGeom>
          <a:solidFill>
            <a:srgbClr val="FFFFFF"/>
          </a:solidFill>
          <a:ln w="9525">
            <a:solidFill>
              <a:srgbClr val="BBCDE8"/>
            </a:solidFill>
            <a:prstDash val="solid"/>
          </a:ln>
          <a:effectLst>
            <a:outerShdw blurRad="63500" dist="25400" dir="8100000" algn="bl" rotWithShape="0">
              <a:srgbClr val="AAAAAA">
                <a:alpha val="18000"/>
              </a:srgbClr>
            </a:outerShdw>
          </a:effectLst>
        </p:spPr>
        <p:txBody>
          <a:bodyPr/>
          <a:lstStyle/>
          <a:p>
            <a:endParaRPr lang="en-US"/>
          </a:p>
        </p:txBody>
      </p:sp>
      <p:sp>
        <p:nvSpPr>
          <p:cNvPr id="17" name="Shape 15"/>
          <p:cNvSpPr/>
          <p:nvPr/>
        </p:nvSpPr>
        <p:spPr>
          <a:xfrm>
            <a:off x="3163824" y="804672"/>
            <a:ext cx="2743200" cy="347472"/>
          </a:xfrm>
          <a:prstGeom prst="rect">
            <a:avLst/>
          </a:prstGeom>
          <a:solidFill>
            <a:srgbClr val="003F87"/>
          </a:solidFill>
          <a:ln w="12700">
            <a:solidFill>
              <a:srgbClr val="003F87"/>
            </a:solidFill>
            <a:prstDash val="solid"/>
          </a:ln>
        </p:spPr>
        <p:txBody>
          <a:bodyPr/>
          <a:lstStyle/>
          <a:p>
            <a:endParaRPr lang="en-US"/>
          </a:p>
        </p:txBody>
      </p:sp>
      <p:sp>
        <p:nvSpPr>
          <p:cNvPr id="18" name="Text 16"/>
          <p:cNvSpPr/>
          <p:nvPr/>
        </p:nvSpPr>
        <p:spPr>
          <a:xfrm>
            <a:off x="3273552" y="804672"/>
            <a:ext cx="2523744" cy="164592"/>
          </a:xfrm>
          <a:prstGeom prst="rect">
            <a:avLst/>
          </a:prstGeom>
          <a:noFill/>
          <a:ln/>
        </p:spPr>
        <p:txBody>
          <a:bodyPr wrap="square" lIns="0" tIns="0" rIns="0" bIns="0" rtlCol="0" anchor="ctr"/>
          <a:lstStyle/>
          <a:p>
            <a:pPr marL="0" indent="0">
              <a:buNone/>
            </a:pPr>
            <a:r>
              <a:rPr lang="en-US" sz="750" b="1" dirty="0">
                <a:solidFill>
                  <a:srgbClr val="AECDFF"/>
                </a:solidFill>
                <a:latin typeface="Calibri" pitchFamily="34" charset="0"/>
                <a:ea typeface="Calibri" pitchFamily="34" charset="-122"/>
                <a:cs typeface="Calibri" pitchFamily="34" charset="-120"/>
              </a:rPr>
              <a:t>Cluster 2</a:t>
            </a:r>
            <a:endParaRPr lang="en-US" sz="750" dirty="0"/>
          </a:p>
        </p:txBody>
      </p:sp>
      <p:sp>
        <p:nvSpPr>
          <p:cNvPr id="19" name="Text 17"/>
          <p:cNvSpPr/>
          <p:nvPr/>
        </p:nvSpPr>
        <p:spPr>
          <a:xfrm>
            <a:off x="3273552" y="960120"/>
            <a:ext cx="2523744" cy="20116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Imbalanced Learning &amp; Evaluation Metrics</a:t>
            </a:r>
            <a:endParaRPr lang="en-US" sz="850" dirty="0"/>
          </a:p>
        </p:txBody>
      </p:sp>
      <p:sp>
        <p:nvSpPr>
          <p:cNvPr id="20" name="Text 18"/>
          <p:cNvSpPr/>
          <p:nvPr/>
        </p:nvSpPr>
        <p:spPr>
          <a:xfrm>
            <a:off x="3291840" y="1234440"/>
            <a:ext cx="2487168" cy="219456"/>
          </a:xfrm>
          <a:prstGeom prst="rect">
            <a:avLst/>
          </a:prstGeom>
          <a:noFill/>
          <a:ln/>
        </p:spPr>
        <p:txBody>
          <a:bodyPr wrap="square" lIns="0" tIns="0" rIns="0" bIns="0" rtlCol="0" anchor="ctr"/>
          <a:lstStyle/>
          <a:p>
            <a:pPr marL="0" indent="0">
              <a:buNone/>
            </a:pPr>
            <a:r>
              <a:rPr lang="en-US" sz="800" dirty="0">
                <a:solidFill>
                  <a:srgbClr val="2E7BC4"/>
                </a:solidFill>
                <a:latin typeface="Calibri" pitchFamily="34" charset="0"/>
                <a:ea typeface="Calibri" pitchFamily="34" charset="-122"/>
                <a:cs typeface="Calibri" pitchFamily="34" charset="-120"/>
              </a:rPr>
              <a:t>[4] [5] [6]</a:t>
            </a:r>
            <a:endParaRPr lang="en-US" sz="800" dirty="0"/>
          </a:p>
        </p:txBody>
      </p:sp>
      <p:sp>
        <p:nvSpPr>
          <p:cNvPr id="21" name="Text 19"/>
          <p:cNvSpPr/>
          <p:nvPr/>
        </p:nvSpPr>
        <p:spPr>
          <a:xfrm>
            <a:off x="3291840" y="1508760"/>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SMOTE: synthetic minority oversampling for rare attacks [4]</a:t>
            </a:r>
            <a:endParaRPr lang="en-US" sz="880" dirty="0"/>
          </a:p>
        </p:txBody>
      </p:sp>
      <p:sp>
        <p:nvSpPr>
          <p:cNvPr id="22" name="Text 20"/>
          <p:cNvSpPr/>
          <p:nvPr/>
        </p:nvSpPr>
        <p:spPr>
          <a:xfrm>
            <a:off x="3291840" y="2020824"/>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Cost-sensitive strategies under skewed distributions [5]</a:t>
            </a:r>
            <a:endParaRPr lang="en-US" sz="880" dirty="0"/>
          </a:p>
        </p:txBody>
      </p:sp>
      <p:sp>
        <p:nvSpPr>
          <p:cNvPr id="23" name="Text 21"/>
          <p:cNvSpPr/>
          <p:nvPr/>
        </p:nvSpPr>
        <p:spPr>
          <a:xfrm>
            <a:off x="3291840" y="2532888"/>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Precision, Recall, F1, ROC-AUC for realistic assessment [6]</a:t>
            </a:r>
            <a:endParaRPr lang="en-US" sz="880" dirty="0"/>
          </a:p>
        </p:txBody>
      </p:sp>
      <p:sp>
        <p:nvSpPr>
          <p:cNvPr id="24" name="Shape 22"/>
          <p:cNvSpPr/>
          <p:nvPr/>
        </p:nvSpPr>
        <p:spPr>
          <a:xfrm>
            <a:off x="6071616" y="804672"/>
            <a:ext cx="2743200" cy="3657600"/>
          </a:xfrm>
          <a:prstGeom prst="rect">
            <a:avLst/>
          </a:prstGeom>
          <a:solidFill>
            <a:srgbClr val="FFFFFF"/>
          </a:solidFill>
          <a:ln w="9525">
            <a:solidFill>
              <a:srgbClr val="BBCDE8"/>
            </a:solidFill>
            <a:prstDash val="solid"/>
          </a:ln>
          <a:effectLst>
            <a:outerShdw blurRad="63500" dist="25400" dir="8100000" algn="bl" rotWithShape="0">
              <a:srgbClr val="AAAAAA">
                <a:alpha val="18000"/>
              </a:srgbClr>
            </a:outerShdw>
          </a:effectLst>
        </p:spPr>
        <p:txBody>
          <a:bodyPr/>
          <a:lstStyle/>
          <a:p>
            <a:endParaRPr lang="en-US"/>
          </a:p>
        </p:txBody>
      </p:sp>
      <p:sp>
        <p:nvSpPr>
          <p:cNvPr id="25" name="Shape 23"/>
          <p:cNvSpPr/>
          <p:nvPr/>
        </p:nvSpPr>
        <p:spPr>
          <a:xfrm>
            <a:off x="6071616" y="804672"/>
            <a:ext cx="2743200" cy="347472"/>
          </a:xfrm>
          <a:prstGeom prst="rect">
            <a:avLst/>
          </a:prstGeom>
          <a:solidFill>
            <a:srgbClr val="003F87"/>
          </a:solidFill>
          <a:ln w="12700">
            <a:solidFill>
              <a:srgbClr val="003F87"/>
            </a:solidFill>
            <a:prstDash val="solid"/>
          </a:ln>
        </p:spPr>
        <p:txBody>
          <a:bodyPr/>
          <a:lstStyle/>
          <a:p>
            <a:endParaRPr lang="en-US"/>
          </a:p>
        </p:txBody>
      </p:sp>
      <p:sp>
        <p:nvSpPr>
          <p:cNvPr id="26" name="Text 24"/>
          <p:cNvSpPr/>
          <p:nvPr/>
        </p:nvSpPr>
        <p:spPr>
          <a:xfrm>
            <a:off x="6181344" y="804672"/>
            <a:ext cx="2523744" cy="164592"/>
          </a:xfrm>
          <a:prstGeom prst="rect">
            <a:avLst/>
          </a:prstGeom>
          <a:noFill/>
          <a:ln/>
        </p:spPr>
        <p:txBody>
          <a:bodyPr wrap="square" lIns="0" tIns="0" rIns="0" bIns="0" rtlCol="0" anchor="ctr"/>
          <a:lstStyle/>
          <a:p>
            <a:pPr marL="0" indent="0">
              <a:buNone/>
            </a:pPr>
            <a:r>
              <a:rPr lang="en-US" sz="750" b="1" dirty="0">
                <a:solidFill>
                  <a:srgbClr val="AECDFF"/>
                </a:solidFill>
                <a:latin typeface="Calibri" pitchFamily="34" charset="0"/>
                <a:ea typeface="Calibri" pitchFamily="34" charset="-122"/>
                <a:cs typeface="Calibri" pitchFamily="34" charset="-120"/>
              </a:rPr>
              <a:t>Cluster 3</a:t>
            </a:r>
            <a:endParaRPr lang="en-US" sz="750" dirty="0"/>
          </a:p>
        </p:txBody>
      </p:sp>
      <p:sp>
        <p:nvSpPr>
          <p:cNvPr id="27" name="Text 25"/>
          <p:cNvSpPr/>
          <p:nvPr/>
        </p:nvSpPr>
        <p:spPr>
          <a:xfrm>
            <a:off x="6181344" y="960120"/>
            <a:ext cx="2523744" cy="201168"/>
          </a:xfrm>
          <a:prstGeom prst="rect">
            <a:avLst/>
          </a:prstGeom>
          <a:noFill/>
          <a:ln/>
        </p:spPr>
        <p:txBody>
          <a:bodyPr wrap="square" lIns="0" tIns="0" rIns="0" bIns="0"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IDS Surveys &amp; Benchmark Datasets</a:t>
            </a:r>
            <a:endParaRPr lang="en-US" sz="850" dirty="0"/>
          </a:p>
        </p:txBody>
      </p:sp>
      <p:sp>
        <p:nvSpPr>
          <p:cNvPr id="28" name="Text 26"/>
          <p:cNvSpPr/>
          <p:nvPr/>
        </p:nvSpPr>
        <p:spPr>
          <a:xfrm>
            <a:off x="6199632" y="1234440"/>
            <a:ext cx="2487168" cy="219456"/>
          </a:xfrm>
          <a:prstGeom prst="rect">
            <a:avLst/>
          </a:prstGeom>
          <a:noFill/>
          <a:ln/>
        </p:spPr>
        <p:txBody>
          <a:bodyPr wrap="square" lIns="0" tIns="0" rIns="0" bIns="0" rtlCol="0" anchor="ctr"/>
          <a:lstStyle/>
          <a:p>
            <a:pPr marL="0" indent="0">
              <a:buNone/>
            </a:pPr>
            <a:r>
              <a:rPr lang="en-US" sz="800" dirty="0">
                <a:solidFill>
                  <a:srgbClr val="2E7BC4"/>
                </a:solidFill>
                <a:latin typeface="Calibri" pitchFamily="34" charset="0"/>
                <a:ea typeface="Calibri" pitchFamily="34" charset="-122"/>
                <a:cs typeface="Calibri" pitchFamily="34" charset="-120"/>
              </a:rPr>
              <a:t>[10] [11] [12] [13] [14]</a:t>
            </a:r>
            <a:endParaRPr lang="en-US" sz="800" dirty="0"/>
          </a:p>
        </p:txBody>
      </p:sp>
      <p:sp>
        <p:nvSpPr>
          <p:cNvPr id="29" name="Text 27"/>
          <p:cNvSpPr/>
          <p:nvPr/>
        </p:nvSpPr>
        <p:spPr>
          <a:xfrm>
            <a:off x="6199632" y="1508760"/>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No single IDS strategy dominates across environments [10][11]</a:t>
            </a:r>
            <a:endParaRPr lang="en-US" sz="880" dirty="0"/>
          </a:p>
        </p:txBody>
      </p:sp>
      <p:sp>
        <p:nvSpPr>
          <p:cNvPr id="30" name="Text 28"/>
          <p:cNvSpPr/>
          <p:nvPr/>
        </p:nvSpPr>
        <p:spPr>
          <a:xfrm>
            <a:off x="6199632" y="2020824"/>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CIC-IDS-2017: realistic traffic diversity [12]</a:t>
            </a:r>
            <a:endParaRPr lang="en-US" sz="880" dirty="0"/>
          </a:p>
        </p:txBody>
      </p:sp>
      <p:sp>
        <p:nvSpPr>
          <p:cNvPr id="31" name="Text 29"/>
          <p:cNvSpPr/>
          <p:nvPr/>
        </p:nvSpPr>
        <p:spPr>
          <a:xfrm>
            <a:off x="6199632" y="2532888"/>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UNSW-NB15: modern attack behaviors, richer features [13]</a:t>
            </a:r>
            <a:endParaRPr lang="en-US" sz="880" dirty="0"/>
          </a:p>
        </p:txBody>
      </p:sp>
      <p:sp>
        <p:nvSpPr>
          <p:cNvPr id="32" name="Text 30"/>
          <p:cNvSpPr/>
          <p:nvPr/>
        </p:nvSpPr>
        <p:spPr>
          <a:xfrm>
            <a:off x="6199632" y="3044952"/>
            <a:ext cx="2487168" cy="475488"/>
          </a:xfrm>
          <a:prstGeom prst="rect">
            <a:avLst/>
          </a:prstGeom>
          <a:noFill/>
          <a:ln/>
        </p:spPr>
        <p:txBody>
          <a:bodyPr wrap="square" lIns="0" tIns="0" rIns="0" bIns="0" rtlCol="0" anchor="ctr"/>
          <a:lstStyle/>
          <a:p>
            <a:pPr marL="342900" indent="-342900">
              <a:buSzPct val="100000"/>
              <a:buChar char="•"/>
            </a:pPr>
            <a:r>
              <a:rPr lang="en-US" sz="880" dirty="0">
                <a:solidFill>
                  <a:srgbClr val="1A1A2E"/>
                </a:solidFill>
                <a:latin typeface="Calibri" pitchFamily="34" charset="0"/>
                <a:ea typeface="Calibri" pitchFamily="34" charset="-122"/>
                <a:cs typeface="Calibri" pitchFamily="34" charset="-120"/>
              </a:rPr>
              <a:t>CSE-CIC-IDS2018: extended scale &amp; attack simulation [14]</a:t>
            </a:r>
            <a:endParaRPr lang="en-US" sz="880" dirty="0"/>
          </a:p>
        </p:txBody>
      </p:sp>
      <p:sp>
        <p:nvSpPr>
          <p:cNvPr id="33" name="Shape 31"/>
          <p:cNvSpPr/>
          <p:nvPr/>
        </p:nvSpPr>
        <p:spPr>
          <a:xfrm>
            <a:off x="256032" y="4553712"/>
            <a:ext cx="8641080" cy="347472"/>
          </a:xfrm>
          <a:prstGeom prst="rect">
            <a:avLst/>
          </a:prstGeom>
          <a:solidFill>
            <a:srgbClr val="EEF3FA"/>
          </a:solidFill>
          <a:ln w="12700">
            <a:solidFill>
              <a:srgbClr val="003F87"/>
            </a:solidFill>
            <a:prstDash val="solid"/>
          </a:ln>
        </p:spPr>
        <p:txBody>
          <a:bodyPr/>
          <a:lstStyle/>
          <a:p>
            <a:endParaRPr lang="en-US"/>
          </a:p>
        </p:txBody>
      </p:sp>
      <p:sp>
        <p:nvSpPr>
          <p:cNvPr id="34" name="Text 32"/>
          <p:cNvSpPr/>
          <p:nvPr/>
        </p:nvSpPr>
        <p:spPr>
          <a:xfrm>
            <a:off x="384048" y="4553712"/>
            <a:ext cx="8412480" cy="347472"/>
          </a:xfrm>
          <a:prstGeom prst="rect">
            <a:avLst/>
          </a:prstGeom>
          <a:noFill/>
          <a:ln/>
        </p:spPr>
        <p:txBody>
          <a:bodyPr wrap="square" lIns="0" tIns="0" rIns="0" bIns="0" rtlCol="0" anchor="ctr"/>
          <a:lstStyle/>
          <a:p>
            <a:pPr marL="0" indent="0">
              <a:buNone/>
            </a:pPr>
            <a:r>
              <a:rPr lang="en-US" sz="900" b="1" dirty="0">
                <a:solidFill>
                  <a:srgbClr val="003F87"/>
                </a:solidFill>
                <a:latin typeface="Calibri" pitchFamily="34" charset="0"/>
                <a:ea typeface="Calibri" pitchFamily="34" charset="-122"/>
                <a:cs typeface="Calibri" pitchFamily="34" charset="-120"/>
              </a:rPr>
              <a:t>Research Gap: </a:t>
            </a:r>
            <a:r>
              <a:rPr lang="en-US" sz="900" dirty="0">
                <a:solidFill>
                  <a:srgbClr val="1A1A2E"/>
                </a:solidFill>
                <a:latin typeface="Calibri" pitchFamily="34" charset="0"/>
                <a:ea typeface="Calibri" pitchFamily="34" charset="-122"/>
                <a:cs typeface="Calibri" pitchFamily="34" charset="-120"/>
              </a:rPr>
              <a:t>Prior ensemble works report competitive benchmark scores but do not explicitly quantify cross-dataset transfer. </a:t>
            </a:r>
            <a:r>
              <a:rPr lang="en-US" sz="900" i="1" dirty="0">
                <a:solidFill>
                  <a:srgbClr val="2E7BC4"/>
                </a:solidFill>
                <a:latin typeface="Calibri" pitchFamily="34" charset="0"/>
                <a:ea typeface="Calibri" pitchFamily="34" charset="-122"/>
                <a:cs typeface="Calibri" pitchFamily="34" charset="-120"/>
              </a:rPr>
              <a:t>This paper fills that gap.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IV. Methodology: Pipeline Architecture</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Shape 5"/>
          <p:cNvSpPr/>
          <p:nvPr/>
        </p:nvSpPr>
        <p:spPr>
          <a:xfrm>
            <a:off x="201168" y="804672"/>
            <a:ext cx="2029968" cy="3931920"/>
          </a:xfrm>
          <a:prstGeom prst="rect">
            <a:avLst/>
          </a:prstGeom>
          <a:solidFill>
            <a:srgbClr val="FFFFFF"/>
          </a:solidFill>
          <a:ln w="9525">
            <a:solidFill>
              <a:srgbClr val="BBCDE8"/>
            </a:solidFill>
            <a:prstDash val="solid"/>
          </a:ln>
          <a:effectLst>
            <a:outerShdw blurRad="63500" dist="25400" dir="8100000" algn="bl" rotWithShape="0">
              <a:srgbClr val="AAAAAA">
                <a:alpha val="18000"/>
              </a:srgbClr>
            </a:outerShdw>
          </a:effectLst>
        </p:spPr>
        <p:txBody>
          <a:bodyPr/>
          <a:lstStyle/>
          <a:p>
            <a:endParaRPr lang="en-US"/>
          </a:p>
        </p:txBody>
      </p:sp>
      <p:sp>
        <p:nvSpPr>
          <p:cNvPr id="8" name="Shape 6"/>
          <p:cNvSpPr/>
          <p:nvPr/>
        </p:nvSpPr>
        <p:spPr>
          <a:xfrm>
            <a:off x="201168" y="804672"/>
            <a:ext cx="2029968" cy="585216"/>
          </a:xfrm>
          <a:prstGeom prst="rect">
            <a:avLst/>
          </a:prstGeom>
          <a:solidFill>
            <a:srgbClr val="003F87"/>
          </a:solidFill>
          <a:ln w="12700">
            <a:solidFill>
              <a:srgbClr val="003F87"/>
            </a:solidFill>
            <a:prstDash val="solid"/>
          </a:ln>
        </p:spPr>
        <p:txBody>
          <a:bodyPr/>
          <a:lstStyle/>
          <a:p>
            <a:endParaRPr lang="en-US"/>
          </a:p>
        </p:txBody>
      </p:sp>
      <p:sp>
        <p:nvSpPr>
          <p:cNvPr id="9" name="Text 7"/>
          <p:cNvSpPr/>
          <p:nvPr/>
        </p:nvSpPr>
        <p:spPr>
          <a:xfrm>
            <a:off x="292608" y="804672"/>
            <a:ext cx="1847088" cy="256032"/>
          </a:xfrm>
          <a:prstGeom prst="rect">
            <a:avLst/>
          </a:prstGeom>
          <a:noFill/>
          <a:ln/>
        </p:spPr>
        <p:txBody>
          <a:bodyPr wrap="square" lIns="0" tIns="0" rIns="0" bIns="0" rtlCol="0" anchor="ctr"/>
          <a:lstStyle/>
          <a:p>
            <a:pPr marL="0" indent="0">
              <a:buNone/>
            </a:pPr>
            <a:r>
              <a:rPr lang="en-US" sz="800" b="1" dirty="0">
                <a:solidFill>
                  <a:srgbClr val="AECDFF"/>
                </a:solidFill>
                <a:latin typeface="Calibri" pitchFamily="34" charset="0"/>
                <a:ea typeface="Calibri" pitchFamily="34" charset="-122"/>
                <a:cs typeface="Calibri" pitchFamily="34" charset="-120"/>
              </a:rPr>
              <a:t>Stage 1</a:t>
            </a:r>
            <a:endParaRPr lang="en-US" sz="800" dirty="0"/>
          </a:p>
        </p:txBody>
      </p:sp>
      <p:sp>
        <p:nvSpPr>
          <p:cNvPr id="10" name="Text 8"/>
          <p:cNvSpPr/>
          <p:nvPr/>
        </p:nvSpPr>
        <p:spPr>
          <a:xfrm>
            <a:off x="292608" y="1005840"/>
            <a:ext cx="1847088" cy="384048"/>
          </a:xfrm>
          <a:prstGeom prst="rect">
            <a:avLst/>
          </a:prstGeom>
          <a:noFill/>
          <a:ln/>
        </p:spPr>
        <p:txBody>
          <a:bodyPr wrap="square" lIns="0" tIns="0" rIns="0" bIns="0" rtlCol="0" anchor="ctr"/>
          <a:lstStyle/>
          <a:p>
            <a:pPr marL="0" indent="0">
              <a:buNone/>
            </a:pPr>
            <a:r>
              <a:rPr lang="en-US" sz="880" b="1" dirty="0">
                <a:solidFill>
                  <a:srgbClr val="FFFFFF"/>
                </a:solidFill>
                <a:latin typeface="Calibri" pitchFamily="34" charset="0"/>
                <a:ea typeface="Calibri" pitchFamily="34" charset="-122"/>
                <a:cs typeface="Calibri" pitchFamily="34" charset="-120"/>
              </a:rPr>
              <a:t>Data Processing &amp;</a:t>
            </a:r>
            <a:endParaRPr lang="en-US" sz="880" dirty="0"/>
          </a:p>
          <a:p>
            <a:pPr marL="0" indent="0">
              <a:buNone/>
            </a:pPr>
            <a:r>
              <a:rPr lang="en-US" sz="880" b="1" dirty="0">
                <a:solidFill>
                  <a:srgbClr val="FFFFFF"/>
                </a:solidFill>
                <a:latin typeface="Calibri" pitchFamily="34" charset="0"/>
                <a:ea typeface="Calibri" pitchFamily="34" charset="-122"/>
                <a:cs typeface="Calibri" pitchFamily="34" charset="-120"/>
              </a:rPr>
              <a:t>Feature Engineering</a:t>
            </a:r>
            <a:endParaRPr lang="en-US" sz="880" dirty="0"/>
          </a:p>
        </p:txBody>
      </p:sp>
      <p:sp>
        <p:nvSpPr>
          <p:cNvPr id="11" name="Text 9"/>
          <p:cNvSpPr/>
          <p:nvPr/>
        </p:nvSpPr>
        <p:spPr>
          <a:xfrm>
            <a:off x="310896" y="1463040"/>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Numeric columns only</a:t>
            </a:r>
            <a:endParaRPr lang="en-US" sz="850" dirty="0"/>
          </a:p>
        </p:txBody>
      </p:sp>
      <p:sp>
        <p:nvSpPr>
          <p:cNvPr id="12" name="Text 10"/>
          <p:cNvSpPr/>
          <p:nvPr/>
        </p:nvSpPr>
        <p:spPr>
          <a:xfrm>
            <a:off x="310896" y="1975104"/>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StandardScaler normalization</a:t>
            </a:r>
            <a:endParaRPr lang="en-US" sz="850" dirty="0"/>
          </a:p>
        </p:txBody>
      </p:sp>
      <p:sp>
        <p:nvSpPr>
          <p:cNvPr id="13" name="Text 11"/>
          <p:cNvSpPr/>
          <p:nvPr/>
        </p:nvSpPr>
        <p:spPr>
          <a:xfrm>
            <a:off x="310896" y="2487168"/>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SelectKBest (k=30)</a:t>
            </a:r>
            <a:endParaRPr lang="en-US" sz="850" dirty="0"/>
          </a:p>
        </p:txBody>
      </p:sp>
      <p:sp>
        <p:nvSpPr>
          <p:cNvPr id="14" name="Text 12"/>
          <p:cNvSpPr/>
          <p:nvPr/>
        </p:nvSpPr>
        <p:spPr>
          <a:xfrm>
            <a:off x="310896" y="2999232"/>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SMOTE balancing (k=5)</a:t>
            </a:r>
            <a:endParaRPr lang="en-US" sz="850" dirty="0"/>
          </a:p>
        </p:txBody>
      </p:sp>
      <p:sp>
        <p:nvSpPr>
          <p:cNvPr id="15" name="Text 13"/>
          <p:cNvSpPr/>
          <p:nvPr/>
        </p:nvSpPr>
        <p:spPr>
          <a:xfrm>
            <a:off x="310896" y="3511296"/>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80% Train / 20% Test</a:t>
            </a:r>
            <a:endParaRPr lang="en-US" sz="850" dirty="0"/>
          </a:p>
        </p:txBody>
      </p:sp>
      <p:sp>
        <p:nvSpPr>
          <p:cNvPr id="16" name="Shape 14"/>
          <p:cNvSpPr/>
          <p:nvPr/>
        </p:nvSpPr>
        <p:spPr>
          <a:xfrm>
            <a:off x="2231136" y="2770632"/>
            <a:ext cx="182880" cy="0"/>
          </a:xfrm>
          <a:prstGeom prst="line">
            <a:avLst/>
          </a:prstGeom>
          <a:noFill/>
          <a:ln w="19050">
            <a:solidFill>
              <a:srgbClr val="2E7BC4"/>
            </a:solidFill>
            <a:prstDash val="solid"/>
          </a:ln>
        </p:spPr>
        <p:txBody>
          <a:bodyPr/>
          <a:lstStyle/>
          <a:p>
            <a:endParaRPr lang="en-US"/>
          </a:p>
        </p:txBody>
      </p:sp>
      <p:sp>
        <p:nvSpPr>
          <p:cNvPr id="17" name="Text 15"/>
          <p:cNvSpPr/>
          <p:nvPr/>
        </p:nvSpPr>
        <p:spPr>
          <a:xfrm>
            <a:off x="2322576" y="2651760"/>
            <a:ext cx="228600" cy="274320"/>
          </a:xfrm>
          <a:prstGeom prst="rect">
            <a:avLst/>
          </a:prstGeom>
          <a:noFill/>
          <a:ln/>
        </p:spPr>
        <p:txBody>
          <a:bodyPr wrap="square" lIns="0" tIns="0" rIns="0" bIns="0" rtlCol="0" anchor="ctr"/>
          <a:lstStyle/>
          <a:p>
            <a:pPr marL="0" indent="0">
              <a:buNone/>
            </a:pPr>
            <a:r>
              <a:rPr lang="en-US" sz="1000" dirty="0">
                <a:solidFill>
                  <a:srgbClr val="2E7BC4"/>
                </a:solidFill>
              </a:rPr>
              <a:t>▶</a:t>
            </a:r>
            <a:endParaRPr lang="en-US" sz="1000" dirty="0"/>
          </a:p>
        </p:txBody>
      </p:sp>
      <p:sp>
        <p:nvSpPr>
          <p:cNvPr id="18" name="Shape 16"/>
          <p:cNvSpPr/>
          <p:nvPr/>
        </p:nvSpPr>
        <p:spPr>
          <a:xfrm>
            <a:off x="2414016" y="804672"/>
            <a:ext cx="2029968" cy="3931920"/>
          </a:xfrm>
          <a:prstGeom prst="rect">
            <a:avLst/>
          </a:prstGeom>
          <a:solidFill>
            <a:srgbClr val="FFFFFF"/>
          </a:solidFill>
          <a:ln w="9525">
            <a:solidFill>
              <a:srgbClr val="BBCDE8"/>
            </a:solidFill>
            <a:prstDash val="solid"/>
          </a:ln>
          <a:effectLst>
            <a:outerShdw blurRad="63500" dist="25400" dir="8100000" algn="bl" rotWithShape="0">
              <a:srgbClr val="AAAAAA">
                <a:alpha val="18000"/>
              </a:srgbClr>
            </a:outerShdw>
          </a:effectLst>
        </p:spPr>
        <p:txBody>
          <a:bodyPr/>
          <a:lstStyle/>
          <a:p>
            <a:endParaRPr lang="en-US"/>
          </a:p>
        </p:txBody>
      </p:sp>
      <p:sp>
        <p:nvSpPr>
          <p:cNvPr id="19" name="Shape 17"/>
          <p:cNvSpPr/>
          <p:nvPr/>
        </p:nvSpPr>
        <p:spPr>
          <a:xfrm>
            <a:off x="2414016" y="804672"/>
            <a:ext cx="2029968" cy="585216"/>
          </a:xfrm>
          <a:prstGeom prst="rect">
            <a:avLst/>
          </a:prstGeom>
          <a:solidFill>
            <a:srgbClr val="003F87"/>
          </a:solidFill>
          <a:ln w="12700">
            <a:solidFill>
              <a:srgbClr val="003F87"/>
            </a:solidFill>
            <a:prstDash val="solid"/>
          </a:ln>
        </p:spPr>
        <p:txBody>
          <a:bodyPr/>
          <a:lstStyle/>
          <a:p>
            <a:endParaRPr lang="en-US"/>
          </a:p>
        </p:txBody>
      </p:sp>
      <p:sp>
        <p:nvSpPr>
          <p:cNvPr id="20" name="Text 18"/>
          <p:cNvSpPr/>
          <p:nvPr/>
        </p:nvSpPr>
        <p:spPr>
          <a:xfrm>
            <a:off x="2505456" y="804672"/>
            <a:ext cx="1847088" cy="256032"/>
          </a:xfrm>
          <a:prstGeom prst="rect">
            <a:avLst/>
          </a:prstGeom>
          <a:noFill/>
          <a:ln/>
        </p:spPr>
        <p:txBody>
          <a:bodyPr wrap="square" lIns="0" tIns="0" rIns="0" bIns="0" rtlCol="0" anchor="ctr"/>
          <a:lstStyle/>
          <a:p>
            <a:pPr marL="0" indent="0">
              <a:buNone/>
            </a:pPr>
            <a:r>
              <a:rPr lang="en-US" sz="800" b="1" dirty="0">
                <a:solidFill>
                  <a:srgbClr val="AECDFF"/>
                </a:solidFill>
                <a:latin typeface="Calibri" pitchFamily="34" charset="0"/>
                <a:ea typeface="Calibri" pitchFamily="34" charset="-122"/>
                <a:cs typeface="Calibri" pitchFamily="34" charset="-120"/>
              </a:rPr>
              <a:t>Stage 2</a:t>
            </a:r>
            <a:endParaRPr lang="en-US" sz="800" dirty="0"/>
          </a:p>
        </p:txBody>
      </p:sp>
      <p:sp>
        <p:nvSpPr>
          <p:cNvPr id="21" name="Text 19"/>
          <p:cNvSpPr/>
          <p:nvPr/>
        </p:nvSpPr>
        <p:spPr>
          <a:xfrm>
            <a:off x="2505456" y="1005840"/>
            <a:ext cx="1847088" cy="384048"/>
          </a:xfrm>
          <a:prstGeom prst="rect">
            <a:avLst/>
          </a:prstGeom>
          <a:noFill/>
          <a:ln/>
        </p:spPr>
        <p:txBody>
          <a:bodyPr wrap="square" lIns="0" tIns="0" rIns="0" bIns="0" rtlCol="0" anchor="ctr"/>
          <a:lstStyle/>
          <a:p>
            <a:pPr marL="0" indent="0">
              <a:buNone/>
            </a:pPr>
            <a:r>
              <a:rPr lang="en-US" sz="880" b="1" dirty="0">
                <a:solidFill>
                  <a:srgbClr val="FFFFFF"/>
                </a:solidFill>
                <a:latin typeface="Calibri" pitchFamily="34" charset="0"/>
                <a:ea typeface="Calibri" pitchFamily="34" charset="-122"/>
                <a:cs typeface="Calibri" pitchFamily="34" charset="-120"/>
              </a:rPr>
              <a:t>Parallel</a:t>
            </a:r>
            <a:endParaRPr lang="en-US" sz="880" dirty="0"/>
          </a:p>
          <a:p>
            <a:pPr marL="0" indent="0">
              <a:buNone/>
            </a:pPr>
            <a:r>
              <a:rPr lang="en-US" sz="880" b="1" dirty="0">
                <a:solidFill>
                  <a:srgbClr val="FFFFFF"/>
                </a:solidFill>
                <a:latin typeface="Calibri" pitchFamily="34" charset="0"/>
                <a:ea typeface="Calibri" pitchFamily="34" charset="-122"/>
                <a:cs typeface="Calibri" pitchFamily="34" charset="-120"/>
              </a:rPr>
              <a:t>Base Learners</a:t>
            </a:r>
            <a:endParaRPr lang="en-US" sz="880" dirty="0"/>
          </a:p>
        </p:txBody>
      </p:sp>
      <p:sp>
        <p:nvSpPr>
          <p:cNvPr id="22" name="Text 20"/>
          <p:cNvSpPr/>
          <p:nvPr/>
        </p:nvSpPr>
        <p:spPr>
          <a:xfrm>
            <a:off x="2523744" y="1463040"/>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KNN  (k=5)</a:t>
            </a:r>
            <a:endParaRPr lang="en-US" sz="850" dirty="0"/>
          </a:p>
        </p:txBody>
      </p:sp>
      <p:sp>
        <p:nvSpPr>
          <p:cNvPr id="23" name="Text 21"/>
          <p:cNvSpPr/>
          <p:nvPr/>
        </p:nvSpPr>
        <p:spPr>
          <a:xfrm>
            <a:off x="2523744" y="1975104"/>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Random Forest  (n=100, max_depth=15)</a:t>
            </a:r>
            <a:endParaRPr lang="en-US" sz="850" dirty="0"/>
          </a:p>
        </p:txBody>
      </p:sp>
      <p:sp>
        <p:nvSpPr>
          <p:cNvPr id="24" name="Text 22"/>
          <p:cNvSpPr/>
          <p:nvPr/>
        </p:nvSpPr>
        <p:spPr>
          <a:xfrm>
            <a:off x="2523744" y="2487168"/>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XGBoost  (n=50, lr=0.1, depth=6)</a:t>
            </a:r>
            <a:endParaRPr lang="en-US" sz="850" dirty="0"/>
          </a:p>
        </p:txBody>
      </p:sp>
      <p:sp>
        <p:nvSpPr>
          <p:cNvPr id="25" name="Shape 23"/>
          <p:cNvSpPr/>
          <p:nvPr/>
        </p:nvSpPr>
        <p:spPr>
          <a:xfrm>
            <a:off x="4443984" y="2770632"/>
            <a:ext cx="182880" cy="0"/>
          </a:xfrm>
          <a:prstGeom prst="line">
            <a:avLst/>
          </a:prstGeom>
          <a:noFill/>
          <a:ln w="19050">
            <a:solidFill>
              <a:srgbClr val="2E7BC4"/>
            </a:solidFill>
            <a:prstDash val="solid"/>
          </a:ln>
        </p:spPr>
        <p:txBody>
          <a:bodyPr/>
          <a:lstStyle/>
          <a:p>
            <a:endParaRPr lang="en-US"/>
          </a:p>
        </p:txBody>
      </p:sp>
      <p:sp>
        <p:nvSpPr>
          <p:cNvPr id="26" name="Text 24"/>
          <p:cNvSpPr/>
          <p:nvPr/>
        </p:nvSpPr>
        <p:spPr>
          <a:xfrm>
            <a:off x="4535424" y="2651760"/>
            <a:ext cx="228600" cy="274320"/>
          </a:xfrm>
          <a:prstGeom prst="rect">
            <a:avLst/>
          </a:prstGeom>
          <a:noFill/>
          <a:ln/>
        </p:spPr>
        <p:txBody>
          <a:bodyPr wrap="square" lIns="0" tIns="0" rIns="0" bIns="0" rtlCol="0" anchor="ctr"/>
          <a:lstStyle/>
          <a:p>
            <a:pPr marL="0" indent="0">
              <a:buNone/>
            </a:pPr>
            <a:r>
              <a:rPr lang="en-US" sz="1000" dirty="0">
                <a:solidFill>
                  <a:srgbClr val="2E7BC4"/>
                </a:solidFill>
              </a:rPr>
              <a:t>▶</a:t>
            </a:r>
            <a:endParaRPr lang="en-US" sz="1000" dirty="0"/>
          </a:p>
        </p:txBody>
      </p:sp>
      <p:sp>
        <p:nvSpPr>
          <p:cNvPr id="27" name="Shape 25"/>
          <p:cNvSpPr/>
          <p:nvPr/>
        </p:nvSpPr>
        <p:spPr>
          <a:xfrm>
            <a:off x="4626864" y="804672"/>
            <a:ext cx="2029968" cy="3931920"/>
          </a:xfrm>
          <a:prstGeom prst="rect">
            <a:avLst/>
          </a:prstGeom>
          <a:solidFill>
            <a:srgbClr val="FFFFFF"/>
          </a:solidFill>
          <a:ln w="9525">
            <a:solidFill>
              <a:srgbClr val="BBCDE8"/>
            </a:solidFill>
            <a:prstDash val="solid"/>
          </a:ln>
          <a:effectLst>
            <a:outerShdw blurRad="63500" dist="25400" dir="8100000" algn="bl" rotWithShape="0">
              <a:srgbClr val="AAAAAA">
                <a:alpha val="18000"/>
              </a:srgbClr>
            </a:outerShdw>
          </a:effectLst>
        </p:spPr>
        <p:txBody>
          <a:bodyPr/>
          <a:lstStyle/>
          <a:p>
            <a:endParaRPr lang="en-US"/>
          </a:p>
        </p:txBody>
      </p:sp>
      <p:sp>
        <p:nvSpPr>
          <p:cNvPr id="28" name="Shape 26"/>
          <p:cNvSpPr/>
          <p:nvPr/>
        </p:nvSpPr>
        <p:spPr>
          <a:xfrm>
            <a:off x="4626864" y="804672"/>
            <a:ext cx="2029968" cy="585216"/>
          </a:xfrm>
          <a:prstGeom prst="rect">
            <a:avLst/>
          </a:prstGeom>
          <a:solidFill>
            <a:srgbClr val="003F87"/>
          </a:solidFill>
          <a:ln w="12700">
            <a:solidFill>
              <a:srgbClr val="003F87"/>
            </a:solidFill>
            <a:prstDash val="solid"/>
          </a:ln>
        </p:spPr>
        <p:txBody>
          <a:bodyPr/>
          <a:lstStyle/>
          <a:p>
            <a:endParaRPr lang="en-US"/>
          </a:p>
        </p:txBody>
      </p:sp>
      <p:sp>
        <p:nvSpPr>
          <p:cNvPr id="29" name="Text 27"/>
          <p:cNvSpPr/>
          <p:nvPr/>
        </p:nvSpPr>
        <p:spPr>
          <a:xfrm>
            <a:off x="4718304" y="804672"/>
            <a:ext cx="1847088" cy="256032"/>
          </a:xfrm>
          <a:prstGeom prst="rect">
            <a:avLst/>
          </a:prstGeom>
          <a:noFill/>
          <a:ln/>
        </p:spPr>
        <p:txBody>
          <a:bodyPr wrap="square" lIns="0" tIns="0" rIns="0" bIns="0" rtlCol="0" anchor="ctr"/>
          <a:lstStyle/>
          <a:p>
            <a:pPr marL="0" indent="0">
              <a:buNone/>
            </a:pPr>
            <a:r>
              <a:rPr lang="en-US" sz="800" b="1" dirty="0">
                <a:solidFill>
                  <a:srgbClr val="AECDFF"/>
                </a:solidFill>
                <a:latin typeface="Calibri" pitchFamily="34" charset="0"/>
                <a:ea typeface="Calibri" pitchFamily="34" charset="-122"/>
                <a:cs typeface="Calibri" pitchFamily="34" charset="-120"/>
              </a:rPr>
              <a:t>Stage 3</a:t>
            </a:r>
            <a:endParaRPr lang="en-US" sz="800" dirty="0"/>
          </a:p>
        </p:txBody>
      </p:sp>
      <p:sp>
        <p:nvSpPr>
          <p:cNvPr id="30" name="Text 28"/>
          <p:cNvSpPr/>
          <p:nvPr/>
        </p:nvSpPr>
        <p:spPr>
          <a:xfrm>
            <a:off x="4718304" y="1005840"/>
            <a:ext cx="1847088" cy="384048"/>
          </a:xfrm>
          <a:prstGeom prst="rect">
            <a:avLst/>
          </a:prstGeom>
          <a:noFill/>
          <a:ln/>
        </p:spPr>
        <p:txBody>
          <a:bodyPr wrap="square" lIns="0" tIns="0" rIns="0" bIns="0" rtlCol="0" anchor="ctr"/>
          <a:lstStyle/>
          <a:p>
            <a:pPr marL="0" indent="0">
              <a:buNone/>
            </a:pPr>
            <a:r>
              <a:rPr lang="en-US" sz="880" b="1" dirty="0">
                <a:solidFill>
                  <a:srgbClr val="FFFFFF"/>
                </a:solidFill>
                <a:latin typeface="Calibri" pitchFamily="34" charset="0"/>
                <a:ea typeface="Calibri" pitchFamily="34" charset="-122"/>
                <a:cs typeface="Calibri" pitchFamily="34" charset="-120"/>
              </a:rPr>
              <a:t>Weighted</a:t>
            </a:r>
            <a:endParaRPr lang="en-US" sz="880" dirty="0"/>
          </a:p>
          <a:p>
            <a:pPr marL="0" indent="0">
              <a:buNone/>
            </a:pPr>
            <a:r>
              <a:rPr lang="en-US" sz="880" b="1" dirty="0">
                <a:solidFill>
                  <a:srgbClr val="FFFFFF"/>
                </a:solidFill>
                <a:latin typeface="Calibri" pitchFamily="34" charset="0"/>
                <a:ea typeface="Calibri" pitchFamily="34" charset="-122"/>
                <a:cs typeface="Calibri" pitchFamily="34" charset="-120"/>
              </a:rPr>
              <a:t>Soft Voting</a:t>
            </a:r>
            <a:endParaRPr lang="en-US" sz="880" dirty="0"/>
          </a:p>
        </p:txBody>
      </p:sp>
      <p:sp>
        <p:nvSpPr>
          <p:cNvPr id="31" name="Text 29"/>
          <p:cNvSpPr/>
          <p:nvPr/>
        </p:nvSpPr>
        <p:spPr>
          <a:xfrm>
            <a:off x="4736592" y="1463040"/>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KNN weight = 0.2</a:t>
            </a:r>
            <a:endParaRPr lang="en-US" sz="850" dirty="0"/>
          </a:p>
        </p:txBody>
      </p:sp>
      <p:sp>
        <p:nvSpPr>
          <p:cNvPr id="32" name="Text 30"/>
          <p:cNvSpPr/>
          <p:nvPr/>
        </p:nvSpPr>
        <p:spPr>
          <a:xfrm>
            <a:off x="4736592" y="1975104"/>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RF weight = 0.4</a:t>
            </a:r>
            <a:endParaRPr lang="en-US" sz="850" dirty="0"/>
          </a:p>
        </p:txBody>
      </p:sp>
      <p:sp>
        <p:nvSpPr>
          <p:cNvPr id="33" name="Text 31"/>
          <p:cNvSpPr/>
          <p:nvPr/>
        </p:nvSpPr>
        <p:spPr>
          <a:xfrm>
            <a:off x="4736592" y="2487168"/>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XGB weight = 0.4</a:t>
            </a:r>
            <a:endParaRPr lang="en-US" sz="850" dirty="0"/>
          </a:p>
        </p:txBody>
      </p:sp>
      <p:sp>
        <p:nvSpPr>
          <p:cNvPr id="34" name="Text 32"/>
          <p:cNvSpPr/>
          <p:nvPr/>
        </p:nvSpPr>
        <p:spPr>
          <a:xfrm>
            <a:off x="4736592" y="2999232"/>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Aggregates class probabilities</a:t>
            </a:r>
            <a:endParaRPr lang="en-US" sz="850" dirty="0"/>
          </a:p>
        </p:txBody>
      </p:sp>
      <p:sp>
        <p:nvSpPr>
          <p:cNvPr id="35" name="Shape 33"/>
          <p:cNvSpPr/>
          <p:nvPr/>
        </p:nvSpPr>
        <p:spPr>
          <a:xfrm>
            <a:off x="6656832" y="2770632"/>
            <a:ext cx="182880" cy="0"/>
          </a:xfrm>
          <a:prstGeom prst="line">
            <a:avLst/>
          </a:prstGeom>
          <a:noFill/>
          <a:ln w="19050">
            <a:solidFill>
              <a:srgbClr val="2E7BC4"/>
            </a:solidFill>
            <a:prstDash val="solid"/>
          </a:ln>
        </p:spPr>
        <p:txBody>
          <a:bodyPr/>
          <a:lstStyle/>
          <a:p>
            <a:endParaRPr lang="en-US"/>
          </a:p>
        </p:txBody>
      </p:sp>
      <p:sp>
        <p:nvSpPr>
          <p:cNvPr id="36" name="Text 34"/>
          <p:cNvSpPr/>
          <p:nvPr/>
        </p:nvSpPr>
        <p:spPr>
          <a:xfrm>
            <a:off x="6748272" y="2651760"/>
            <a:ext cx="228600" cy="274320"/>
          </a:xfrm>
          <a:prstGeom prst="rect">
            <a:avLst/>
          </a:prstGeom>
          <a:noFill/>
          <a:ln/>
        </p:spPr>
        <p:txBody>
          <a:bodyPr wrap="square" lIns="0" tIns="0" rIns="0" bIns="0" rtlCol="0" anchor="ctr"/>
          <a:lstStyle/>
          <a:p>
            <a:pPr marL="0" indent="0">
              <a:buNone/>
            </a:pPr>
            <a:r>
              <a:rPr lang="en-US" sz="1000" dirty="0">
                <a:solidFill>
                  <a:srgbClr val="2E7BC4"/>
                </a:solidFill>
              </a:rPr>
              <a:t>▶</a:t>
            </a:r>
            <a:endParaRPr lang="en-US" sz="1000" dirty="0"/>
          </a:p>
        </p:txBody>
      </p:sp>
      <p:sp>
        <p:nvSpPr>
          <p:cNvPr id="37" name="Shape 35"/>
          <p:cNvSpPr/>
          <p:nvPr/>
        </p:nvSpPr>
        <p:spPr>
          <a:xfrm>
            <a:off x="6839712" y="804672"/>
            <a:ext cx="2029968" cy="3931920"/>
          </a:xfrm>
          <a:prstGeom prst="rect">
            <a:avLst/>
          </a:prstGeom>
          <a:solidFill>
            <a:srgbClr val="FFFFFF"/>
          </a:solidFill>
          <a:ln w="9525">
            <a:solidFill>
              <a:srgbClr val="BBCDE8"/>
            </a:solidFill>
            <a:prstDash val="solid"/>
          </a:ln>
          <a:effectLst>
            <a:outerShdw blurRad="63500" dist="25400" dir="8100000" algn="bl" rotWithShape="0">
              <a:srgbClr val="AAAAAA">
                <a:alpha val="18000"/>
              </a:srgbClr>
            </a:outerShdw>
          </a:effectLst>
        </p:spPr>
        <p:txBody>
          <a:bodyPr/>
          <a:lstStyle/>
          <a:p>
            <a:endParaRPr lang="en-US"/>
          </a:p>
        </p:txBody>
      </p:sp>
      <p:sp>
        <p:nvSpPr>
          <p:cNvPr id="38" name="Shape 36"/>
          <p:cNvSpPr/>
          <p:nvPr/>
        </p:nvSpPr>
        <p:spPr>
          <a:xfrm>
            <a:off x="6839712" y="804672"/>
            <a:ext cx="2029968" cy="585216"/>
          </a:xfrm>
          <a:prstGeom prst="rect">
            <a:avLst/>
          </a:prstGeom>
          <a:solidFill>
            <a:srgbClr val="003F87"/>
          </a:solidFill>
          <a:ln w="12700">
            <a:solidFill>
              <a:srgbClr val="003F87"/>
            </a:solidFill>
            <a:prstDash val="solid"/>
          </a:ln>
        </p:spPr>
        <p:txBody>
          <a:bodyPr/>
          <a:lstStyle/>
          <a:p>
            <a:endParaRPr lang="en-US"/>
          </a:p>
        </p:txBody>
      </p:sp>
      <p:sp>
        <p:nvSpPr>
          <p:cNvPr id="39" name="Text 37"/>
          <p:cNvSpPr/>
          <p:nvPr/>
        </p:nvSpPr>
        <p:spPr>
          <a:xfrm>
            <a:off x="6931152" y="804672"/>
            <a:ext cx="1847088" cy="256032"/>
          </a:xfrm>
          <a:prstGeom prst="rect">
            <a:avLst/>
          </a:prstGeom>
          <a:noFill/>
          <a:ln/>
        </p:spPr>
        <p:txBody>
          <a:bodyPr wrap="square" lIns="0" tIns="0" rIns="0" bIns="0" rtlCol="0" anchor="ctr"/>
          <a:lstStyle/>
          <a:p>
            <a:pPr marL="0" indent="0">
              <a:buNone/>
            </a:pPr>
            <a:r>
              <a:rPr lang="en-US" sz="800" b="1" dirty="0">
                <a:solidFill>
                  <a:srgbClr val="AECDFF"/>
                </a:solidFill>
                <a:latin typeface="Calibri" pitchFamily="34" charset="0"/>
                <a:ea typeface="Calibri" pitchFamily="34" charset="-122"/>
                <a:cs typeface="Calibri" pitchFamily="34" charset="-120"/>
              </a:rPr>
              <a:t>Stage 4</a:t>
            </a:r>
            <a:endParaRPr lang="en-US" sz="800" dirty="0"/>
          </a:p>
        </p:txBody>
      </p:sp>
      <p:sp>
        <p:nvSpPr>
          <p:cNvPr id="40" name="Text 38"/>
          <p:cNvSpPr/>
          <p:nvPr/>
        </p:nvSpPr>
        <p:spPr>
          <a:xfrm>
            <a:off x="6931152" y="1005840"/>
            <a:ext cx="1847088" cy="384048"/>
          </a:xfrm>
          <a:prstGeom prst="rect">
            <a:avLst/>
          </a:prstGeom>
          <a:noFill/>
          <a:ln/>
        </p:spPr>
        <p:txBody>
          <a:bodyPr wrap="square" lIns="0" tIns="0" rIns="0" bIns="0" rtlCol="0" anchor="ctr"/>
          <a:lstStyle/>
          <a:p>
            <a:pPr marL="0" indent="0">
              <a:buNone/>
            </a:pPr>
            <a:r>
              <a:rPr lang="en-US" sz="880" b="1" dirty="0">
                <a:solidFill>
                  <a:srgbClr val="FFFFFF"/>
                </a:solidFill>
                <a:latin typeface="Calibri" pitchFamily="34" charset="0"/>
                <a:ea typeface="Calibri" pitchFamily="34" charset="-122"/>
                <a:cs typeface="Calibri" pitchFamily="34" charset="-120"/>
              </a:rPr>
              <a:t>Prediction</a:t>
            </a:r>
            <a:endParaRPr lang="en-US" sz="880" dirty="0"/>
          </a:p>
          <a:p>
            <a:pPr marL="0" indent="0">
              <a:buNone/>
            </a:pPr>
            <a:r>
              <a:rPr lang="en-US" sz="880" b="1" dirty="0">
                <a:solidFill>
                  <a:srgbClr val="FFFFFF"/>
                </a:solidFill>
                <a:latin typeface="Calibri" pitchFamily="34" charset="0"/>
                <a:ea typeface="Calibri" pitchFamily="34" charset="-122"/>
                <a:cs typeface="Calibri" pitchFamily="34" charset="-120"/>
              </a:rPr>
              <a:t>&amp; Evaluation</a:t>
            </a:r>
            <a:endParaRPr lang="en-US" sz="880" dirty="0"/>
          </a:p>
        </p:txBody>
      </p:sp>
      <p:sp>
        <p:nvSpPr>
          <p:cNvPr id="41" name="Text 39"/>
          <p:cNvSpPr/>
          <p:nvPr/>
        </p:nvSpPr>
        <p:spPr>
          <a:xfrm>
            <a:off x="6949440" y="1463040"/>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Output: Normal / Attack</a:t>
            </a:r>
            <a:endParaRPr lang="en-US" sz="850" dirty="0"/>
          </a:p>
        </p:txBody>
      </p:sp>
      <p:sp>
        <p:nvSpPr>
          <p:cNvPr id="42" name="Text 40"/>
          <p:cNvSpPr/>
          <p:nvPr/>
        </p:nvSpPr>
        <p:spPr>
          <a:xfrm>
            <a:off x="6949440" y="1975104"/>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Accuracy, Precision, Recall</a:t>
            </a:r>
            <a:endParaRPr lang="en-US" sz="850" dirty="0"/>
          </a:p>
        </p:txBody>
      </p:sp>
      <p:sp>
        <p:nvSpPr>
          <p:cNvPr id="43" name="Text 41"/>
          <p:cNvSpPr/>
          <p:nvPr/>
        </p:nvSpPr>
        <p:spPr>
          <a:xfrm>
            <a:off x="6949440" y="2487168"/>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F1-Score, ROC-AUC</a:t>
            </a:r>
            <a:endParaRPr lang="en-US" sz="850" dirty="0"/>
          </a:p>
        </p:txBody>
      </p:sp>
      <p:sp>
        <p:nvSpPr>
          <p:cNvPr id="44" name="Text 42"/>
          <p:cNvSpPr/>
          <p:nvPr/>
        </p:nvSpPr>
        <p:spPr>
          <a:xfrm>
            <a:off x="6949440" y="2999232"/>
            <a:ext cx="1810512" cy="47548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Per-dataset metrics</a:t>
            </a:r>
            <a:endParaRPr lang="en-US" sz="850" dirty="0"/>
          </a:p>
        </p:txBody>
      </p:sp>
      <p:sp>
        <p:nvSpPr>
          <p:cNvPr id="45" name="Text 43"/>
          <p:cNvSpPr/>
          <p:nvPr/>
        </p:nvSpPr>
        <p:spPr>
          <a:xfrm>
            <a:off x="201168" y="4617720"/>
            <a:ext cx="822960" cy="237744"/>
          </a:xfrm>
          <a:prstGeom prst="rect">
            <a:avLst/>
          </a:prstGeom>
          <a:noFill/>
          <a:ln/>
        </p:spPr>
        <p:txBody>
          <a:bodyPr wrap="square" lIns="0" tIns="0" rIns="0" bIns="0" rtlCol="0" anchor="ctr"/>
          <a:lstStyle/>
          <a:p>
            <a:pPr marL="0" indent="0">
              <a:buNone/>
            </a:pPr>
            <a:r>
              <a:rPr lang="en-US" sz="850" dirty="0">
                <a:solidFill>
                  <a:srgbClr val="4A5568"/>
                </a:solidFill>
                <a:latin typeface="Calibri" pitchFamily="34" charset="0"/>
                <a:ea typeface="Calibri" pitchFamily="34" charset="-122"/>
                <a:cs typeface="Calibri" pitchFamily="34" charset="-120"/>
              </a:rPr>
              <a:t>Datasets:</a:t>
            </a:r>
            <a:endParaRPr lang="en-US" sz="850" dirty="0"/>
          </a:p>
        </p:txBody>
      </p:sp>
      <p:sp>
        <p:nvSpPr>
          <p:cNvPr id="46" name="Shape 44"/>
          <p:cNvSpPr/>
          <p:nvPr/>
        </p:nvSpPr>
        <p:spPr>
          <a:xfrm>
            <a:off x="1051560" y="4608576"/>
            <a:ext cx="2377440" cy="256032"/>
          </a:xfrm>
          <a:prstGeom prst="rect">
            <a:avLst/>
          </a:prstGeom>
          <a:solidFill>
            <a:srgbClr val="EEF3FA"/>
          </a:solidFill>
          <a:ln w="9525">
            <a:solidFill>
              <a:srgbClr val="BBCDE8"/>
            </a:solidFill>
            <a:prstDash val="solid"/>
          </a:ln>
        </p:spPr>
        <p:txBody>
          <a:bodyPr/>
          <a:lstStyle/>
          <a:p>
            <a:endParaRPr lang="en-US"/>
          </a:p>
        </p:txBody>
      </p:sp>
      <p:sp>
        <p:nvSpPr>
          <p:cNvPr id="47" name="Text 45"/>
          <p:cNvSpPr/>
          <p:nvPr/>
        </p:nvSpPr>
        <p:spPr>
          <a:xfrm>
            <a:off x="1115568" y="4608576"/>
            <a:ext cx="2267712" cy="256032"/>
          </a:xfrm>
          <a:prstGeom prst="rect">
            <a:avLst/>
          </a:prstGeom>
          <a:noFill/>
          <a:ln/>
        </p:spPr>
        <p:txBody>
          <a:bodyPr wrap="square" lIns="0" tIns="0" rIns="0" bIns="0" rtlCol="0" anchor="ctr"/>
          <a:lstStyle/>
          <a:p>
            <a:pPr marL="0" indent="0">
              <a:buNone/>
            </a:pPr>
            <a:r>
              <a:rPr lang="en-US" sz="800" dirty="0">
                <a:solidFill>
                  <a:srgbClr val="003F87"/>
                </a:solidFill>
                <a:latin typeface="Calibri" pitchFamily="34" charset="0"/>
                <a:ea typeface="Calibri" pitchFamily="34" charset="-122"/>
                <a:cs typeface="Calibri" pitchFamily="34" charset="-120"/>
              </a:rPr>
              <a:t>CIC-IDS-2017  (2.8M records)</a:t>
            </a:r>
            <a:endParaRPr lang="en-US" sz="800" dirty="0"/>
          </a:p>
        </p:txBody>
      </p:sp>
      <p:sp>
        <p:nvSpPr>
          <p:cNvPr id="48" name="Shape 46"/>
          <p:cNvSpPr/>
          <p:nvPr/>
        </p:nvSpPr>
        <p:spPr>
          <a:xfrm>
            <a:off x="3685032" y="4608576"/>
            <a:ext cx="2377440" cy="256032"/>
          </a:xfrm>
          <a:prstGeom prst="rect">
            <a:avLst/>
          </a:prstGeom>
          <a:solidFill>
            <a:srgbClr val="EEF3FA"/>
          </a:solidFill>
          <a:ln w="9525">
            <a:solidFill>
              <a:srgbClr val="BBCDE8"/>
            </a:solidFill>
            <a:prstDash val="solid"/>
          </a:ln>
        </p:spPr>
        <p:txBody>
          <a:bodyPr/>
          <a:lstStyle/>
          <a:p>
            <a:endParaRPr lang="en-US"/>
          </a:p>
        </p:txBody>
      </p:sp>
      <p:sp>
        <p:nvSpPr>
          <p:cNvPr id="49" name="Text 47"/>
          <p:cNvSpPr/>
          <p:nvPr/>
        </p:nvSpPr>
        <p:spPr>
          <a:xfrm>
            <a:off x="3749040" y="4608576"/>
            <a:ext cx="2267712" cy="256032"/>
          </a:xfrm>
          <a:prstGeom prst="rect">
            <a:avLst/>
          </a:prstGeom>
          <a:noFill/>
          <a:ln/>
        </p:spPr>
        <p:txBody>
          <a:bodyPr wrap="square" lIns="0" tIns="0" rIns="0" bIns="0" rtlCol="0" anchor="ctr"/>
          <a:lstStyle/>
          <a:p>
            <a:pPr marL="0" indent="0">
              <a:buNone/>
            </a:pPr>
            <a:r>
              <a:rPr lang="en-US" sz="800" dirty="0">
                <a:solidFill>
                  <a:srgbClr val="003F87"/>
                </a:solidFill>
                <a:latin typeface="Calibri" pitchFamily="34" charset="0"/>
                <a:ea typeface="Calibri" pitchFamily="34" charset="-122"/>
                <a:cs typeface="Calibri" pitchFamily="34" charset="-120"/>
              </a:rPr>
              <a:t>UNSW-NB15  (447K records)</a:t>
            </a:r>
            <a:endParaRPr lang="en-US" sz="800" dirty="0"/>
          </a:p>
        </p:txBody>
      </p:sp>
      <p:sp>
        <p:nvSpPr>
          <p:cNvPr id="50" name="Shape 48"/>
          <p:cNvSpPr/>
          <p:nvPr/>
        </p:nvSpPr>
        <p:spPr>
          <a:xfrm>
            <a:off x="6318504" y="4608576"/>
            <a:ext cx="2377440" cy="256032"/>
          </a:xfrm>
          <a:prstGeom prst="rect">
            <a:avLst/>
          </a:prstGeom>
          <a:solidFill>
            <a:srgbClr val="EEF3FA"/>
          </a:solidFill>
          <a:ln w="9525">
            <a:solidFill>
              <a:srgbClr val="BBCDE8"/>
            </a:solidFill>
            <a:prstDash val="solid"/>
          </a:ln>
        </p:spPr>
        <p:txBody>
          <a:bodyPr/>
          <a:lstStyle/>
          <a:p>
            <a:endParaRPr lang="en-US"/>
          </a:p>
        </p:txBody>
      </p:sp>
      <p:sp>
        <p:nvSpPr>
          <p:cNvPr id="51" name="Text 49"/>
          <p:cNvSpPr/>
          <p:nvPr/>
        </p:nvSpPr>
        <p:spPr>
          <a:xfrm>
            <a:off x="6382512" y="4608576"/>
            <a:ext cx="2267712" cy="256032"/>
          </a:xfrm>
          <a:prstGeom prst="rect">
            <a:avLst/>
          </a:prstGeom>
          <a:noFill/>
          <a:ln/>
        </p:spPr>
        <p:txBody>
          <a:bodyPr wrap="square" lIns="0" tIns="0" rIns="0" bIns="0" rtlCol="0" anchor="ctr"/>
          <a:lstStyle/>
          <a:p>
            <a:pPr marL="0" indent="0">
              <a:buNone/>
            </a:pPr>
            <a:r>
              <a:rPr lang="en-US" sz="800" dirty="0">
                <a:solidFill>
                  <a:srgbClr val="003F87"/>
                </a:solidFill>
                <a:latin typeface="Calibri" pitchFamily="34" charset="0"/>
                <a:ea typeface="Calibri" pitchFamily="34" charset="-122"/>
                <a:cs typeface="Calibri" pitchFamily="34" charset="-120"/>
              </a:rPr>
              <a:t>CIC-IDS-2018  (sampled 90K)</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 Results: Binary Classification on CIC-IDS-2017</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  AIUB</a:t>
            </a:r>
            <a:endParaRPr lang="en-US" sz="750" dirty="0"/>
          </a:p>
        </p:txBody>
      </p:sp>
      <p:sp>
        <p:nvSpPr>
          <p:cNvPr id="7" name="Text 5"/>
          <p:cNvSpPr/>
          <p:nvPr/>
        </p:nvSpPr>
        <p:spPr>
          <a:xfrm>
            <a:off x="256032" y="758952"/>
            <a:ext cx="8641080" cy="237744"/>
          </a:xfrm>
          <a:prstGeom prst="rect">
            <a:avLst/>
          </a:prstGeom>
          <a:noFill/>
          <a:ln/>
        </p:spPr>
        <p:txBody>
          <a:bodyPr wrap="square" lIns="0" tIns="0" rIns="0" bIns="0" rtlCol="0" anchor="ctr"/>
          <a:lstStyle/>
          <a:p>
            <a:pPr marL="0" indent="0" algn="ctr">
              <a:buNone/>
            </a:pPr>
            <a:r>
              <a:rPr lang="en-US" sz="950" b="1" dirty="0">
                <a:solidFill>
                  <a:srgbClr val="003F87"/>
                </a:solidFill>
                <a:latin typeface="Times New Roman" pitchFamily="34" charset="0"/>
                <a:ea typeface="Times New Roman" pitchFamily="34" charset="-122"/>
                <a:cs typeface="Times New Roman" pitchFamily="34" charset="-120"/>
              </a:rPr>
              <a:t>TABLE I — Binary Classification Results on CIC-IDS-2017</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56032" y="1024128"/>
          <a:ext cx="8641080" cy="3246120"/>
        </p:xfrm>
        <a:graphic>
          <a:graphicData uri="http://schemas.openxmlformats.org/drawingml/2006/table">
            <a:tbl>
              <a:tblPr/>
              <a:tblGrid>
                <a:gridCol w="20574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tblGrid>
              <a:tr h="36068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Model</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 (%)</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Precision</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Recall</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extLst>
                  <a:ext uri="{0D108BD9-81ED-4DB2-BD59-A6C34878D82A}">
                    <a16:rowId xmlns:a16="http://schemas.microsoft.com/office/drawing/2014/main" val="10000"/>
                  </a:ext>
                </a:extLst>
              </a:tr>
              <a:tr h="36068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KNN</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99.04</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0.9799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0.9943</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0.9871</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0.9970</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068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Decision Tree</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99.48</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0.9928</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0.9930</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0.9929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0.9944</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2"/>
                  </a:ext>
                </a:extLst>
              </a:tr>
              <a:tr h="36068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Random Forest</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99.58</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0.9942</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0.9943</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0.9943</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0.9995</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068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Naive Bayes</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66.67</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0.6022</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0.2817</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0.3838</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0.8315</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4"/>
                  </a:ext>
                </a:extLst>
              </a:tr>
              <a:tr h="36068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Logistic Regression</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90.49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0.8232</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0.9450</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0.8799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0.9512</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068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SVM</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93.60</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0.8847</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0.9501</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0.9162</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0.9753</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6"/>
                  </a:ext>
                </a:extLst>
              </a:tr>
              <a:tr h="36068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XGBoost</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98.68</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0.9714</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0.9935</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0.9823</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0.9986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0680">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Ensemble (Weighted) ★</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99.56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0.9927</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0.9954</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0.9940</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0.9996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extLst>
                  <a:ext uri="{0D108BD9-81ED-4DB2-BD59-A6C34878D82A}">
                    <a16:rowId xmlns:a16="http://schemas.microsoft.com/office/drawing/2014/main" val="10008"/>
                  </a:ext>
                </a:extLst>
              </a:tr>
            </a:tbl>
          </a:graphicData>
        </a:graphic>
      </p:graphicFrame>
      <p:sp>
        <p:nvSpPr>
          <p:cNvPr id="9" name="Shape 6"/>
          <p:cNvSpPr/>
          <p:nvPr/>
        </p:nvSpPr>
        <p:spPr>
          <a:xfrm>
            <a:off x="256032" y="4352544"/>
            <a:ext cx="8641080" cy="502920"/>
          </a:xfrm>
          <a:prstGeom prst="rect">
            <a:avLst/>
          </a:prstGeom>
          <a:solidFill>
            <a:srgbClr val="EEF3FA"/>
          </a:solidFill>
          <a:ln w="12700">
            <a:solidFill>
              <a:srgbClr val="003F87"/>
            </a:solidFill>
            <a:prstDash val="solid"/>
          </a:ln>
        </p:spPr>
        <p:txBody>
          <a:bodyPr/>
          <a:lstStyle/>
          <a:p>
            <a:endParaRPr lang="en-US"/>
          </a:p>
        </p:txBody>
      </p:sp>
      <p:sp>
        <p:nvSpPr>
          <p:cNvPr id="10" name="Text 7"/>
          <p:cNvSpPr/>
          <p:nvPr/>
        </p:nvSpPr>
        <p:spPr>
          <a:xfrm>
            <a:off x="384048" y="4352544"/>
            <a:ext cx="8412480" cy="502920"/>
          </a:xfrm>
          <a:prstGeom prst="rect">
            <a:avLst/>
          </a:prstGeom>
          <a:noFill/>
          <a:ln/>
        </p:spPr>
        <p:txBody>
          <a:bodyPr wrap="square" lIns="0" tIns="0" rIns="0" bIns="0" rtlCol="0" anchor="ctr"/>
          <a:lstStyle/>
          <a:p>
            <a:pPr marL="0" indent="0">
              <a:buNone/>
            </a:pPr>
            <a:r>
              <a:rPr lang="en-US" sz="900" b="1" dirty="0">
                <a:solidFill>
                  <a:srgbClr val="003F87"/>
                </a:solidFill>
                <a:latin typeface="Calibri" pitchFamily="34" charset="0"/>
                <a:ea typeface="Calibri" pitchFamily="34" charset="-122"/>
                <a:cs typeface="Calibri" pitchFamily="34" charset="-120"/>
              </a:rPr>
              <a:t>Key Insight: </a:t>
            </a:r>
            <a:r>
              <a:rPr lang="en-US" sz="900" dirty="0">
                <a:solidFill>
                  <a:srgbClr val="1A1A2E"/>
                </a:solidFill>
                <a:latin typeface="Calibri" pitchFamily="34" charset="0"/>
                <a:ea typeface="Calibri" pitchFamily="34" charset="-122"/>
                <a:cs typeface="Calibri" pitchFamily="34" charset="-120"/>
              </a:rPr>
              <a:t>Proposed ensemble reaches 99.56% accuracy with highest ROC-AUC (0.9996). Weighted combination reduces class-specific errors, visible in F1-score stability. Best result bolded per IEEE convention.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 Results: UNSW-NB15 &amp; CIC-IDS-2018</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Text 5"/>
          <p:cNvSpPr/>
          <p:nvPr/>
        </p:nvSpPr>
        <p:spPr>
          <a:xfrm>
            <a:off x="256032" y="749808"/>
            <a:ext cx="4315968" cy="219456"/>
          </a:xfrm>
          <a:prstGeom prst="rect">
            <a:avLst/>
          </a:prstGeom>
          <a:noFill/>
          <a:ln/>
        </p:spPr>
        <p:txBody>
          <a:bodyPr wrap="square" lIns="0" tIns="0" rIns="0" bIns="0" rtlCol="0" anchor="ctr"/>
          <a:lstStyle/>
          <a:p>
            <a:pPr marL="0" indent="0" algn="ctr">
              <a:buNone/>
            </a:pPr>
            <a:r>
              <a:rPr lang="en-US" sz="900" b="1" dirty="0">
                <a:solidFill>
                  <a:srgbClr val="003F87"/>
                </a:solidFill>
                <a:latin typeface="Times New Roman" pitchFamily="34" charset="0"/>
                <a:ea typeface="Times New Roman" pitchFamily="34" charset="-122"/>
                <a:cs typeface="Times New Roman" pitchFamily="34" charset="-120"/>
              </a:rPr>
              <a:t>TABLE II — UNSW-NB15</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56032" y="987552"/>
          <a:ext cx="4315968" cy="2761488"/>
        </p:xfrm>
        <a:graphic>
          <a:graphicData uri="http://schemas.openxmlformats.org/drawingml/2006/table">
            <a:tbl>
              <a:tblPr/>
              <a:tblGrid>
                <a:gridCol w="1298448">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594360">
                  <a:extLst>
                    <a:ext uri="{9D8B030D-6E8A-4147-A177-3AD203B41FA5}">
                      <a16:colId xmlns:a16="http://schemas.microsoft.com/office/drawing/2014/main" val="20002"/>
                    </a:ext>
                  </a:extLst>
                </a:gridCol>
                <a:gridCol w="594360">
                  <a:extLst>
                    <a:ext uri="{9D8B030D-6E8A-4147-A177-3AD203B41FA5}">
                      <a16:colId xmlns:a16="http://schemas.microsoft.com/office/drawing/2014/main" val="20003"/>
                    </a:ext>
                  </a:extLst>
                </a:gridCol>
                <a:gridCol w="594360">
                  <a:extLst>
                    <a:ext uri="{9D8B030D-6E8A-4147-A177-3AD203B41FA5}">
                      <a16:colId xmlns:a16="http://schemas.microsoft.com/office/drawing/2014/main" val="20004"/>
                    </a:ext>
                  </a:extLst>
                </a:gridCol>
                <a:gridCol w="594360">
                  <a:extLst>
                    <a:ext uri="{9D8B030D-6E8A-4147-A177-3AD203B41FA5}">
                      <a16:colId xmlns:a16="http://schemas.microsoft.com/office/drawing/2014/main" val="20005"/>
                    </a:ext>
                  </a:extLst>
                </a:gridCol>
              </a:tblGrid>
              <a:tr h="306832">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Model</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Acc(%)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Prec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F1</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AUC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extLst>
                  <a:ext uri="{0D108BD9-81ED-4DB2-BD59-A6C34878D82A}">
                    <a16:rowId xmlns:a16="http://schemas.microsoft.com/office/drawing/2014/main" val="10000"/>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KNN</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99.90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0.9982</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0.9998</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0.9998</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Decision Tree</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2"/>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Random Forest</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Naive Bayes</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99.34</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0.9870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0.9934</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0.9984</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4"/>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99.99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0.9998</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SVM</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99.96</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0.9993</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0.9996</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0.9999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6"/>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XGBoost</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6832">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Ensemble ★</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1.0000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extLst>
                  <a:ext uri="{0D108BD9-81ED-4DB2-BD59-A6C34878D82A}">
                    <a16:rowId xmlns:a16="http://schemas.microsoft.com/office/drawing/2014/main" val="10008"/>
                  </a:ext>
                </a:extLst>
              </a:tr>
            </a:tbl>
          </a:graphicData>
        </a:graphic>
      </p:graphicFrame>
      <p:sp>
        <p:nvSpPr>
          <p:cNvPr id="9" name="Text 6"/>
          <p:cNvSpPr/>
          <p:nvPr/>
        </p:nvSpPr>
        <p:spPr>
          <a:xfrm>
            <a:off x="4663440" y="749808"/>
            <a:ext cx="4224528" cy="219456"/>
          </a:xfrm>
          <a:prstGeom prst="rect">
            <a:avLst/>
          </a:prstGeom>
          <a:noFill/>
          <a:ln/>
        </p:spPr>
        <p:txBody>
          <a:bodyPr wrap="square" lIns="0" tIns="0" rIns="0" bIns="0" rtlCol="0" anchor="ctr"/>
          <a:lstStyle/>
          <a:p>
            <a:pPr marL="0" indent="0" algn="ctr">
              <a:buNone/>
            </a:pPr>
            <a:r>
              <a:rPr lang="en-US" sz="900" b="1" dirty="0">
                <a:solidFill>
                  <a:srgbClr val="003F87"/>
                </a:solidFill>
                <a:latin typeface="Times New Roman" pitchFamily="34" charset="0"/>
                <a:ea typeface="Times New Roman" pitchFamily="34" charset="-122"/>
                <a:cs typeface="Times New Roman" pitchFamily="34" charset="-120"/>
              </a:rPr>
              <a:t>TABLE III — CIC-IDS-2018</a:t>
            </a:r>
            <a:endParaRPr lang="en-US" sz="9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4663440" y="987552"/>
          <a:ext cx="4224528" cy="2761488"/>
        </p:xfrm>
        <a:graphic>
          <a:graphicData uri="http://schemas.openxmlformats.org/drawingml/2006/table">
            <a:tbl>
              <a:tblPr/>
              <a:tblGrid>
                <a:gridCol w="1261872">
                  <a:extLst>
                    <a:ext uri="{9D8B030D-6E8A-4147-A177-3AD203B41FA5}">
                      <a16:colId xmlns:a16="http://schemas.microsoft.com/office/drawing/2014/main" val="20000"/>
                    </a:ext>
                  </a:extLst>
                </a:gridCol>
                <a:gridCol w="621792">
                  <a:extLst>
                    <a:ext uri="{9D8B030D-6E8A-4147-A177-3AD203B41FA5}">
                      <a16:colId xmlns:a16="http://schemas.microsoft.com/office/drawing/2014/main" val="20001"/>
                    </a:ext>
                  </a:extLst>
                </a:gridCol>
                <a:gridCol w="585216">
                  <a:extLst>
                    <a:ext uri="{9D8B030D-6E8A-4147-A177-3AD203B41FA5}">
                      <a16:colId xmlns:a16="http://schemas.microsoft.com/office/drawing/2014/main" val="20002"/>
                    </a:ext>
                  </a:extLst>
                </a:gridCol>
                <a:gridCol w="585216">
                  <a:extLst>
                    <a:ext uri="{9D8B030D-6E8A-4147-A177-3AD203B41FA5}">
                      <a16:colId xmlns:a16="http://schemas.microsoft.com/office/drawing/2014/main" val="20003"/>
                    </a:ext>
                  </a:extLst>
                </a:gridCol>
                <a:gridCol w="585216">
                  <a:extLst>
                    <a:ext uri="{9D8B030D-6E8A-4147-A177-3AD203B41FA5}">
                      <a16:colId xmlns:a16="http://schemas.microsoft.com/office/drawing/2014/main" val="20004"/>
                    </a:ext>
                  </a:extLst>
                </a:gridCol>
                <a:gridCol w="585216">
                  <a:extLst>
                    <a:ext uri="{9D8B030D-6E8A-4147-A177-3AD203B41FA5}">
                      <a16:colId xmlns:a16="http://schemas.microsoft.com/office/drawing/2014/main" val="20005"/>
                    </a:ext>
                  </a:extLst>
                </a:gridCol>
              </a:tblGrid>
              <a:tr h="306832">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Model</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Acc(%)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Prec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Rec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F1</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AUC</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extLst>
                  <a:ext uri="{0D108BD9-81ED-4DB2-BD59-A6C34878D82A}">
                    <a16:rowId xmlns:a16="http://schemas.microsoft.com/office/drawing/2014/main" val="10000"/>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KNN</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89.03</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0.8965</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0.8550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0.8753</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0.9492</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Decision Tree</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87.71</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0.8616</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0.8661</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0.8638</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0.8781</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2"/>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Random Forest</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89.22</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0.9049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0.8499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0.8765</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0.9606</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Naive Bayes</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71.09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0.6308</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0.8624</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0.7287</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0.8305</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4"/>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Logistic Reg.</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83.44</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0.8177</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0.8133</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0.8155</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0.8968</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SVM</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88.27</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0.9285</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0.8010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0.8600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0.9260</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6"/>
                  </a:ext>
                </a:extLst>
              </a:tr>
              <a:tr h="306832">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XGBoost</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90.69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0.9679</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0.8204</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0.8881</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1A1A2E"/>
                          </a:solidFill>
                          <a:latin typeface="Calibri" pitchFamily="34" charset="0"/>
                          <a:ea typeface="Calibri" pitchFamily="34" charset="-122"/>
                          <a:cs typeface="Calibri" pitchFamily="34" charset="-120"/>
                        </a:rPr>
                        <a:t>0.9615</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6832">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Ensemble ★</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90.42</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0.9486</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0.8322</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0.8866</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850" b="1" dirty="0">
                          <a:solidFill>
                            <a:srgbClr val="003F87"/>
                          </a:solidFill>
                          <a:latin typeface="Calibri" pitchFamily="34" charset="0"/>
                          <a:ea typeface="Calibri" pitchFamily="34" charset="-122"/>
                          <a:cs typeface="Calibri" pitchFamily="34" charset="-120"/>
                        </a:rPr>
                        <a:t>0.9648</a:t>
                      </a:r>
                      <a:endParaRPr lang="en-US" sz="8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extLst>
                  <a:ext uri="{0D108BD9-81ED-4DB2-BD59-A6C34878D82A}">
                    <a16:rowId xmlns:a16="http://schemas.microsoft.com/office/drawing/2014/main" val="10008"/>
                  </a:ext>
                </a:extLst>
              </a:tr>
            </a:tbl>
          </a:graphicData>
        </a:graphic>
      </p:graphicFrame>
      <p:sp>
        <p:nvSpPr>
          <p:cNvPr id="11" name="Shape 7"/>
          <p:cNvSpPr/>
          <p:nvPr/>
        </p:nvSpPr>
        <p:spPr>
          <a:xfrm>
            <a:off x="4590288" y="749808"/>
            <a:ext cx="0" cy="3017520"/>
          </a:xfrm>
          <a:prstGeom prst="line">
            <a:avLst/>
          </a:prstGeom>
          <a:noFill/>
          <a:ln w="9525">
            <a:solidFill>
              <a:srgbClr val="BBCDE8"/>
            </a:solidFill>
            <a:prstDash val="solid"/>
          </a:ln>
        </p:spPr>
        <p:txBody>
          <a:bodyPr/>
          <a:lstStyle/>
          <a:p>
            <a:endParaRPr lang="en-US"/>
          </a:p>
        </p:txBody>
      </p:sp>
      <p:sp>
        <p:nvSpPr>
          <p:cNvPr id="12" name="Shape 8"/>
          <p:cNvSpPr/>
          <p:nvPr/>
        </p:nvSpPr>
        <p:spPr>
          <a:xfrm>
            <a:off x="256032" y="3840480"/>
            <a:ext cx="4315968" cy="822960"/>
          </a:xfrm>
          <a:prstGeom prst="rect">
            <a:avLst/>
          </a:prstGeom>
          <a:solidFill>
            <a:srgbClr val="EEF3FA"/>
          </a:solidFill>
          <a:ln w="9525">
            <a:solidFill>
              <a:srgbClr val="BBCDE8"/>
            </a:solidFill>
            <a:prstDash val="solid"/>
          </a:ln>
        </p:spPr>
        <p:txBody>
          <a:bodyPr/>
          <a:lstStyle/>
          <a:p>
            <a:endParaRPr lang="en-US"/>
          </a:p>
        </p:txBody>
      </p:sp>
      <p:sp>
        <p:nvSpPr>
          <p:cNvPr id="13" name="Text 9"/>
          <p:cNvSpPr/>
          <p:nvPr/>
        </p:nvSpPr>
        <p:spPr>
          <a:xfrm>
            <a:off x="347472" y="3840480"/>
            <a:ext cx="4133088" cy="822960"/>
          </a:xfrm>
          <a:prstGeom prst="rect">
            <a:avLst/>
          </a:prstGeom>
          <a:noFill/>
          <a:ln/>
        </p:spPr>
        <p:txBody>
          <a:bodyPr wrap="square" lIns="0" tIns="0" rIns="0" bIns="0" rtlCol="0" anchor="ctr"/>
          <a:lstStyle/>
          <a:p>
            <a:pPr marL="0" indent="0">
              <a:buNone/>
            </a:pPr>
            <a:r>
              <a:rPr lang="en-US" sz="880" b="1" dirty="0">
                <a:solidFill>
                  <a:srgbClr val="003F87"/>
                </a:solidFill>
                <a:latin typeface="Calibri" pitchFamily="34" charset="0"/>
                <a:ea typeface="Calibri" pitchFamily="34" charset="-122"/>
                <a:cs typeface="Calibri" pitchFamily="34" charset="-120"/>
              </a:rPr>
              <a:t>UNSW-NB15: </a:t>
            </a:r>
            <a:r>
              <a:rPr lang="en-US" sz="880" dirty="0">
                <a:solidFill>
                  <a:srgbClr val="1A1A2E"/>
                </a:solidFill>
                <a:latin typeface="Calibri" pitchFamily="34" charset="0"/>
                <a:ea typeface="Calibri" pitchFamily="34" charset="-122"/>
                <a:cs typeface="Calibri" pitchFamily="34" charset="-120"/>
              </a:rPr>
              <a:t>Dataset is highly separable under flow-level preprocessing. Ensemble, Decision Tree, RF, and XGBoost all reach perfect 100.00% — confirming clean class boundaries in this corpus.</a:t>
            </a:r>
            <a:endParaRPr lang="en-US" sz="880" dirty="0"/>
          </a:p>
        </p:txBody>
      </p:sp>
      <p:sp>
        <p:nvSpPr>
          <p:cNvPr id="14" name="Shape 10"/>
          <p:cNvSpPr/>
          <p:nvPr/>
        </p:nvSpPr>
        <p:spPr>
          <a:xfrm>
            <a:off x="4663440" y="3840480"/>
            <a:ext cx="4224528" cy="822960"/>
          </a:xfrm>
          <a:prstGeom prst="rect">
            <a:avLst/>
          </a:prstGeom>
          <a:solidFill>
            <a:srgbClr val="EEF3FA"/>
          </a:solidFill>
          <a:ln w="9525">
            <a:solidFill>
              <a:srgbClr val="BBCDE8"/>
            </a:solidFill>
            <a:prstDash val="solid"/>
          </a:ln>
        </p:spPr>
        <p:txBody>
          <a:bodyPr/>
          <a:lstStyle/>
          <a:p>
            <a:endParaRPr lang="en-US"/>
          </a:p>
        </p:txBody>
      </p:sp>
      <p:sp>
        <p:nvSpPr>
          <p:cNvPr id="10" name="Text 11"/>
          <p:cNvSpPr/>
          <p:nvPr/>
        </p:nvSpPr>
        <p:spPr>
          <a:xfrm>
            <a:off x="4754880" y="3840480"/>
            <a:ext cx="4041648" cy="822960"/>
          </a:xfrm>
          <a:prstGeom prst="rect">
            <a:avLst/>
          </a:prstGeom>
          <a:noFill/>
          <a:ln/>
        </p:spPr>
        <p:txBody>
          <a:bodyPr wrap="square" lIns="0" tIns="0" rIns="0" bIns="0" rtlCol="0" anchor="ctr"/>
          <a:lstStyle/>
          <a:p>
            <a:pPr marL="0" indent="0">
              <a:buNone/>
            </a:pPr>
            <a:r>
              <a:rPr lang="en-US" sz="880" b="1" dirty="0">
                <a:solidFill>
                  <a:srgbClr val="003F87"/>
                </a:solidFill>
                <a:latin typeface="Calibri" pitchFamily="34" charset="0"/>
                <a:ea typeface="Calibri" pitchFamily="34" charset="-122"/>
                <a:cs typeface="Calibri" pitchFamily="34" charset="-120"/>
              </a:rPr>
              <a:t>CIC-IDS-2018: </a:t>
            </a:r>
            <a:r>
              <a:rPr lang="en-US" sz="880" dirty="0">
                <a:solidFill>
                  <a:srgbClr val="1A1A2E"/>
                </a:solidFill>
                <a:latin typeface="Calibri" pitchFamily="34" charset="0"/>
                <a:ea typeface="Calibri" pitchFamily="34" charset="-122"/>
                <a:cs typeface="Calibri" pitchFamily="34" charset="-120"/>
              </a:rPr>
              <a:t>More complex classification due to traffic diversity. Ensemble achieves highest ROC-AUC (0.9648) while smoothing precision-recall tradeoff compared to XGBoost (90.69% acc.).</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 Ablation Study</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Text 5"/>
          <p:cNvSpPr/>
          <p:nvPr/>
        </p:nvSpPr>
        <p:spPr>
          <a:xfrm>
            <a:off x="256032" y="749808"/>
            <a:ext cx="8641080" cy="219456"/>
          </a:xfrm>
          <a:prstGeom prst="rect">
            <a:avLst/>
          </a:prstGeom>
          <a:noFill/>
          <a:ln/>
        </p:spPr>
        <p:txBody>
          <a:bodyPr wrap="square" lIns="0" tIns="0" rIns="0" bIns="0" rtlCol="0" anchor="ctr"/>
          <a:lstStyle/>
          <a:p>
            <a:pPr marL="0" indent="0" algn="ctr">
              <a:buNone/>
            </a:pPr>
            <a:r>
              <a:rPr lang="en-US" sz="950" b="1" dirty="0">
                <a:solidFill>
                  <a:srgbClr val="003F87"/>
                </a:solidFill>
                <a:latin typeface="Times New Roman" pitchFamily="34" charset="0"/>
                <a:ea typeface="Times New Roman" pitchFamily="34" charset="-122"/>
                <a:cs typeface="Times New Roman" pitchFamily="34" charset="-120"/>
              </a:rPr>
              <a:t>TABLE IV — Ablation Study on the Proposed Pipeline (CIC-IDS-2017)</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56032" y="987552"/>
          <a:ext cx="8641080" cy="1920240"/>
        </p:xfrm>
        <a:graphic>
          <a:graphicData uri="http://schemas.openxmlformats.org/drawingml/2006/table">
            <a:tbl>
              <a:tblPr/>
              <a:tblGrid>
                <a:gridCol w="470916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tblGrid>
              <a:tr h="320040">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Configuration</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Accuracy (%)</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F1-Score</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ROC-AUC</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extLst>
                  <a:ext uri="{0D108BD9-81ED-4DB2-BD59-A6C34878D82A}">
                    <a16:rowId xmlns:a16="http://schemas.microsoft.com/office/drawing/2014/main" val="10000"/>
                  </a:ext>
                </a:extLst>
              </a:tr>
              <a:tr h="32004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1. KNN (no preprocessing)</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98.88</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0.9849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0.9889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2. KNN + SMOTE (no Feature Selection)</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98.88</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0.9849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0.9894</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2"/>
                  </a:ext>
                </a:extLst>
              </a:tr>
              <a:tr h="32004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3. Ensemble + Feature Selection only</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99.55</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0.9939</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0.9996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4. Ensemble + SMOTE</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99.56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0.9940</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1000" dirty="0">
                          <a:solidFill>
                            <a:srgbClr val="1A1A2E"/>
                          </a:solidFill>
                          <a:latin typeface="Calibri" pitchFamily="34" charset="0"/>
                          <a:ea typeface="Calibri" pitchFamily="34" charset="-122"/>
                          <a:cs typeface="Calibri" pitchFamily="34" charset="-120"/>
                        </a:rPr>
                        <a:t>0.9996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4"/>
                  </a:ext>
                </a:extLst>
              </a:tr>
              <a:tr h="320040">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5. Full Proposed (Ensemble + FS + SMOTE)</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99.56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0.9940</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tc>
                  <a:txBody>
                    <a:bodyPr/>
                    <a:lstStyle/>
                    <a:p>
                      <a:pPr marL="0" indent="0" algn="ctr">
                        <a:buNone/>
                      </a:pPr>
                      <a:r>
                        <a:rPr lang="en-US" sz="1000" b="1" dirty="0">
                          <a:solidFill>
                            <a:srgbClr val="003F87"/>
                          </a:solidFill>
                          <a:latin typeface="Calibri" pitchFamily="34" charset="0"/>
                          <a:ea typeface="Calibri" pitchFamily="34" charset="-122"/>
                          <a:cs typeface="Calibri" pitchFamily="34" charset="-120"/>
                        </a:rPr>
                        <a:t>0.9996</a:t>
                      </a:r>
                      <a:endParaRPr lang="en-US" sz="100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D6E4F7"/>
                    </a:solidFill>
                  </a:tcPr>
                </a:tc>
                <a:extLst>
                  <a:ext uri="{0D108BD9-81ED-4DB2-BD59-A6C34878D82A}">
                    <a16:rowId xmlns:a16="http://schemas.microsoft.com/office/drawing/2014/main" val="10005"/>
                  </a:ext>
                </a:extLst>
              </a:tr>
            </a:tbl>
          </a:graphicData>
        </a:graphic>
      </p:graphicFrame>
      <p:graphicFrame>
        <p:nvGraphicFramePr>
          <p:cNvPr id="8" name="Chart 0"/>
          <p:cNvGraphicFramePr/>
          <p:nvPr/>
        </p:nvGraphicFramePr>
        <p:xfrm>
          <a:off x="256032" y="3017520"/>
          <a:ext cx="5120640" cy="169164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5577840" y="3017520"/>
            <a:ext cx="3310128" cy="1691640"/>
          </a:xfrm>
          <a:prstGeom prst="rect">
            <a:avLst/>
          </a:prstGeom>
          <a:solidFill>
            <a:srgbClr val="EEF3FA"/>
          </a:solidFill>
          <a:ln w="9525">
            <a:solidFill>
              <a:srgbClr val="BBCDE8"/>
            </a:solidFill>
            <a:prstDash val="solid"/>
          </a:ln>
        </p:spPr>
        <p:txBody>
          <a:bodyPr/>
          <a:lstStyle/>
          <a:p>
            <a:endParaRPr lang="en-US"/>
          </a:p>
        </p:txBody>
      </p:sp>
      <p:sp>
        <p:nvSpPr>
          <p:cNvPr id="11" name="Text 7"/>
          <p:cNvSpPr/>
          <p:nvPr/>
        </p:nvSpPr>
        <p:spPr>
          <a:xfrm>
            <a:off x="5705856" y="3090672"/>
            <a:ext cx="3017520" cy="256032"/>
          </a:xfrm>
          <a:prstGeom prst="rect">
            <a:avLst/>
          </a:prstGeom>
          <a:noFill/>
          <a:ln/>
        </p:spPr>
        <p:txBody>
          <a:bodyPr wrap="square" lIns="0" tIns="0" rIns="0" bIns="0" rtlCol="0" anchor="ctr"/>
          <a:lstStyle/>
          <a:p>
            <a:pPr marL="0" indent="0">
              <a:buNone/>
            </a:pPr>
            <a:r>
              <a:rPr lang="en-US" sz="950" b="1" dirty="0">
                <a:solidFill>
                  <a:srgbClr val="003F87"/>
                </a:solidFill>
                <a:latin typeface="Calibri" pitchFamily="34" charset="0"/>
                <a:ea typeface="Calibri" pitchFamily="34" charset="-122"/>
                <a:cs typeface="Calibri" pitchFamily="34" charset="-120"/>
              </a:rPr>
              <a:t>Key Findings:</a:t>
            </a:r>
            <a:endParaRPr lang="en-US" sz="950" dirty="0"/>
          </a:p>
        </p:txBody>
      </p:sp>
      <p:sp>
        <p:nvSpPr>
          <p:cNvPr id="12" name="Text 8"/>
          <p:cNvSpPr/>
          <p:nvPr/>
        </p:nvSpPr>
        <p:spPr>
          <a:xfrm>
            <a:off x="5705856" y="3401568"/>
            <a:ext cx="3063240" cy="29260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Ensemble + Feature Selection → biggest accuracy jump</a:t>
            </a:r>
            <a:endParaRPr lang="en-US" sz="850" dirty="0"/>
          </a:p>
        </p:txBody>
      </p:sp>
      <p:sp>
        <p:nvSpPr>
          <p:cNvPr id="13" name="Text 9"/>
          <p:cNvSpPr/>
          <p:nvPr/>
        </p:nvSpPr>
        <p:spPr>
          <a:xfrm>
            <a:off x="5705856" y="3721608"/>
            <a:ext cx="3063240" cy="29260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SMOTE adds marginal but measurable improvement</a:t>
            </a:r>
            <a:endParaRPr lang="en-US" sz="850" dirty="0"/>
          </a:p>
        </p:txBody>
      </p:sp>
      <p:sp>
        <p:nvSpPr>
          <p:cNvPr id="14" name="Text 10"/>
          <p:cNvSpPr/>
          <p:nvPr/>
        </p:nvSpPr>
        <p:spPr>
          <a:xfrm>
            <a:off x="5705856" y="4041648"/>
            <a:ext cx="3063240" cy="29260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Model diversity &amp; feature reduction dominate over SMOTE alone</a:t>
            </a:r>
            <a:endParaRPr lang="en-US" sz="850" dirty="0"/>
          </a:p>
        </p:txBody>
      </p:sp>
      <p:sp>
        <p:nvSpPr>
          <p:cNvPr id="15" name="Text 11"/>
          <p:cNvSpPr/>
          <p:nvPr/>
        </p:nvSpPr>
        <p:spPr>
          <a:xfrm>
            <a:off x="5705856" y="4361688"/>
            <a:ext cx="3063240" cy="292608"/>
          </a:xfrm>
          <a:prstGeom prst="rect">
            <a:avLst/>
          </a:prstGeom>
          <a:noFill/>
          <a:ln/>
        </p:spPr>
        <p:txBody>
          <a:bodyPr wrap="square" lIns="0" tIns="0" rIns="0" bIns="0" rtlCol="0" anchor="ctr"/>
          <a:lstStyle/>
          <a:p>
            <a:pPr marL="342900" indent="-342900">
              <a:buSzPct val="100000"/>
              <a:buChar char="•"/>
            </a:pPr>
            <a:r>
              <a:rPr lang="en-US" sz="850" dirty="0">
                <a:solidFill>
                  <a:srgbClr val="1A1A2E"/>
                </a:solidFill>
                <a:latin typeface="Calibri" pitchFamily="34" charset="0"/>
                <a:ea typeface="Calibri" pitchFamily="34" charset="-122"/>
                <a:cs typeface="Calibri" pitchFamily="34" charset="-120"/>
              </a:rPr>
              <a:t>Consistent with imbalanced-learning theory [4][5]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VII. Cross-Dataset &amp; Minority-Class Evaluation</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Text 5"/>
          <p:cNvSpPr/>
          <p:nvPr/>
        </p:nvSpPr>
        <p:spPr>
          <a:xfrm>
            <a:off x="256032" y="749808"/>
            <a:ext cx="8641080" cy="219456"/>
          </a:xfrm>
          <a:prstGeom prst="rect">
            <a:avLst/>
          </a:prstGeom>
          <a:noFill/>
          <a:ln/>
        </p:spPr>
        <p:txBody>
          <a:bodyPr wrap="square" lIns="0" tIns="0" rIns="0" bIns="0" rtlCol="0" anchor="ctr"/>
          <a:lstStyle/>
          <a:p>
            <a:pPr marL="0" indent="0" algn="ctr">
              <a:buNone/>
            </a:pPr>
            <a:r>
              <a:rPr lang="en-US" sz="950" b="1" dirty="0">
                <a:solidFill>
                  <a:srgbClr val="003F87"/>
                </a:solidFill>
                <a:latin typeface="Times New Roman" pitchFamily="34" charset="0"/>
                <a:ea typeface="Times New Roman" pitchFamily="34" charset="-122"/>
                <a:cs typeface="Times New Roman" pitchFamily="34" charset="-120"/>
              </a:rPr>
              <a:t>TABLE V — Cross-Dataset Evaluation of the Proposed Ensemble</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987552"/>
          <a:ext cx="8641080" cy="2148839"/>
        </p:xfrm>
        <a:graphic>
          <a:graphicData uri="http://schemas.openxmlformats.org/drawingml/2006/table">
            <a:tbl>
              <a:tblPr/>
              <a:tblGrid>
                <a:gridCol w="169164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tblGrid>
              <a:tr h="306977">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Train Dataset</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Test Dataset</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Accuracy (%)</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F1-Score</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ROC-AUC</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Drop (%)</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extLst>
                  <a:ext uri="{0D108BD9-81ED-4DB2-BD59-A6C34878D82A}">
                    <a16:rowId xmlns:a16="http://schemas.microsoft.com/office/drawing/2014/main" val="10000"/>
                  </a:ext>
                </a:extLst>
              </a:tr>
              <a:tr h="306977">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CIC-2017</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65.39</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0.4179</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0.7598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27.68%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6977">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CIC-2017</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UNSW-NB15</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50.04</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0.0022</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0.5323</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49.96%</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2"/>
                  </a:ext>
                </a:extLst>
              </a:tr>
              <a:tr h="306977">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UNSW-NB15</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CIC-2017</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36.86</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0.5386</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0.6114</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62.98%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6977">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UNSW-NB15</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45.01</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0.6208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0.3412</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50.22%</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4"/>
                  </a:ext>
                </a:extLst>
              </a:tr>
              <a:tr h="306977">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CIC-2017</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48.26</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0.3512</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0.4659</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51.53%</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6977">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CIC-2018</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UNSW-NB15</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19.69</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0.0657</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dirty="0">
                          <a:solidFill>
                            <a:srgbClr val="1A1A2E"/>
                          </a:solidFill>
                          <a:latin typeface="Calibri" pitchFamily="34" charset="0"/>
                          <a:ea typeface="Calibri" pitchFamily="34" charset="-122"/>
                          <a:cs typeface="Calibri" pitchFamily="34" charset="-120"/>
                        </a:rPr>
                        <a:t>0.1169</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950" b="1" dirty="0">
                          <a:solidFill>
                            <a:srgbClr val="C0392B"/>
                          </a:solidFill>
                          <a:latin typeface="Calibri" pitchFamily="34" charset="0"/>
                          <a:ea typeface="Calibri" pitchFamily="34" charset="-122"/>
                          <a:cs typeface="Calibri" pitchFamily="34" charset="-120"/>
                        </a:rPr>
                        <a:t>80.31%</a:t>
                      </a:r>
                      <a:endParaRPr lang="en-US" sz="95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6"/>
                  </a:ext>
                </a:extLst>
              </a:tr>
            </a:tbl>
          </a:graphicData>
        </a:graphic>
      </p:graphicFrame>
      <p:sp>
        <p:nvSpPr>
          <p:cNvPr id="9" name="Shape 6"/>
          <p:cNvSpPr/>
          <p:nvPr/>
        </p:nvSpPr>
        <p:spPr>
          <a:xfrm>
            <a:off x="256032" y="3218688"/>
            <a:ext cx="8641080" cy="475488"/>
          </a:xfrm>
          <a:prstGeom prst="rect">
            <a:avLst/>
          </a:prstGeom>
          <a:solidFill>
            <a:srgbClr val="FFF8E7"/>
          </a:solidFill>
          <a:ln w="15240">
            <a:solidFill>
              <a:srgbClr val="C8870A"/>
            </a:solidFill>
            <a:prstDash val="solid"/>
          </a:ln>
        </p:spPr>
        <p:txBody>
          <a:bodyPr/>
          <a:lstStyle/>
          <a:p>
            <a:endParaRPr lang="en-US"/>
          </a:p>
        </p:txBody>
      </p:sp>
      <p:sp>
        <p:nvSpPr>
          <p:cNvPr id="8" name="Text 7"/>
          <p:cNvSpPr/>
          <p:nvPr/>
        </p:nvSpPr>
        <p:spPr>
          <a:xfrm>
            <a:off x="384048" y="3218688"/>
            <a:ext cx="8412480" cy="475488"/>
          </a:xfrm>
          <a:prstGeom prst="rect">
            <a:avLst/>
          </a:prstGeom>
          <a:noFill/>
          <a:ln/>
        </p:spPr>
        <p:txBody>
          <a:bodyPr wrap="square" lIns="0" tIns="0" rIns="0" bIns="0" rtlCol="0" anchor="ctr"/>
          <a:lstStyle/>
          <a:p>
            <a:pPr marL="0" indent="0">
              <a:buNone/>
            </a:pPr>
            <a:r>
              <a:rPr lang="en-US" sz="900" b="1" dirty="0">
                <a:solidFill>
                  <a:srgbClr val="7B4F00"/>
                </a:solidFill>
                <a:latin typeface="Calibri" pitchFamily="34" charset="0"/>
                <a:ea typeface="Calibri" pitchFamily="34" charset="-122"/>
                <a:cs typeface="Calibri" pitchFamily="34" charset="-120"/>
              </a:rPr>
              <a:t>Important Finding: </a:t>
            </a:r>
            <a:r>
              <a:rPr lang="en-US" sz="900" dirty="0">
                <a:solidFill>
                  <a:srgbClr val="5D4037"/>
                </a:solidFill>
                <a:latin typeface="Calibri" pitchFamily="34" charset="0"/>
                <a:ea typeface="Calibri" pitchFamily="34" charset="-122"/>
                <a:cs typeface="Calibri" pitchFamily="34" charset="-120"/>
              </a:rPr>
              <a:t>Accuracy drops to as low as 19.69% and ROC-AUC collapses to near-random levels under cross-dataset transfer. Strong within-dataset results do NOT guarantee real-world deployment robustness.</a:t>
            </a:r>
            <a:endParaRPr lang="en-US" sz="900" dirty="0"/>
          </a:p>
        </p:txBody>
      </p:sp>
      <p:sp>
        <p:nvSpPr>
          <p:cNvPr id="11" name="Text 8"/>
          <p:cNvSpPr/>
          <p:nvPr/>
        </p:nvSpPr>
        <p:spPr>
          <a:xfrm>
            <a:off x="256032" y="3776472"/>
            <a:ext cx="5303520" cy="219456"/>
          </a:xfrm>
          <a:prstGeom prst="rect">
            <a:avLst/>
          </a:prstGeom>
          <a:noFill/>
          <a:ln/>
        </p:spPr>
        <p:txBody>
          <a:bodyPr wrap="square" lIns="0" tIns="0" rIns="0" bIns="0" rtlCol="0" anchor="ctr"/>
          <a:lstStyle/>
          <a:p>
            <a:pPr marL="0" indent="0">
              <a:buNone/>
            </a:pPr>
            <a:r>
              <a:rPr lang="en-US" sz="900" b="1" dirty="0">
                <a:solidFill>
                  <a:srgbClr val="003F87"/>
                </a:solidFill>
                <a:latin typeface="Times New Roman" pitchFamily="34" charset="0"/>
                <a:ea typeface="Times New Roman" pitchFamily="34" charset="-122"/>
                <a:cs typeface="Times New Roman" pitchFamily="34" charset="-120"/>
              </a:rPr>
              <a:t>TABLE VI — Per-Class Minority Attack Performance</a:t>
            </a:r>
            <a:endParaRPr lang="en-US" sz="9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256032" y="4023360"/>
          <a:ext cx="5303520" cy="749808"/>
        </p:xfrm>
        <a:graphic>
          <a:graphicData uri="http://schemas.openxmlformats.org/drawingml/2006/table">
            <a:tbl>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49936">
                <a:tc>
                  <a:txBody>
                    <a:bodyPr/>
                    <a:lstStyle/>
                    <a:p>
                      <a:pPr marL="0" indent="0" algn="ctr">
                        <a:buNone/>
                      </a:pPr>
                      <a:r>
                        <a:rPr lang="en-US" sz="880" b="1" dirty="0">
                          <a:solidFill>
                            <a:srgbClr val="FFFFFF"/>
                          </a:solidFill>
                          <a:latin typeface="Calibri" pitchFamily="34" charset="0"/>
                          <a:ea typeface="Calibri" pitchFamily="34" charset="-122"/>
                          <a:cs typeface="Calibri" pitchFamily="34" charset="-120"/>
                        </a:rPr>
                        <a:t>Attack Type</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80" b="1" dirty="0">
                          <a:solidFill>
                            <a:srgbClr val="FFFFFF"/>
                          </a:solidFill>
                          <a:latin typeface="Calibri" pitchFamily="34" charset="0"/>
                          <a:ea typeface="Calibri" pitchFamily="34" charset="-122"/>
                          <a:cs typeface="Calibri" pitchFamily="34" charset="-120"/>
                        </a:rPr>
                        <a:t>F1-Score</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tc>
                  <a:txBody>
                    <a:bodyPr/>
                    <a:lstStyle/>
                    <a:p>
                      <a:pPr marL="0" indent="0" algn="ctr">
                        <a:buNone/>
                      </a:pPr>
                      <a:r>
                        <a:rPr lang="en-US" sz="880" b="1" dirty="0">
                          <a:solidFill>
                            <a:srgbClr val="FFFFFF"/>
                          </a:solidFill>
                          <a:latin typeface="Calibri" pitchFamily="34" charset="0"/>
                          <a:ea typeface="Calibri" pitchFamily="34" charset="-122"/>
                          <a:cs typeface="Calibri" pitchFamily="34" charset="-120"/>
                        </a:rPr>
                        <a:t>Support</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003F87"/>
                    </a:solidFill>
                  </a:tcPr>
                </a:tc>
                <a:extLst>
                  <a:ext uri="{0D108BD9-81ED-4DB2-BD59-A6C34878D82A}">
                    <a16:rowId xmlns:a16="http://schemas.microsoft.com/office/drawing/2014/main" val="10000"/>
                  </a:ext>
                </a:extLst>
              </a:tr>
              <a:tr h="249936">
                <a:tc>
                  <a:txBody>
                    <a:bodyPr/>
                    <a:lstStyle/>
                    <a:p>
                      <a:pPr marL="0" indent="0" algn="ctr">
                        <a:buNone/>
                      </a:pPr>
                      <a:r>
                        <a:rPr lang="en-US" sz="880" dirty="0">
                          <a:solidFill>
                            <a:srgbClr val="1A1A2E"/>
                          </a:solidFill>
                          <a:latin typeface="Calibri" pitchFamily="34" charset="0"/>
                          <a:ea typeface="Calibri" pitchFamily="34" charset="-122"/>
                          <a:cs typeface="Calibri" pitchFamily="34" charset="-120"/>
                        </a:rPr>
                        <a:t>Infiltration</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80" b="1" dirty="0">
                          <a:solidFill>
                            <a:srgbClr val="C0392B"/>
                          </a:solidFill>
                          <a:latin typeface="Calibri" pitchFamily="34" charset="0"/>
                          <a:ea typeface="Calibri" pitchFamily="34" charset="-122"/>
                          <a:cs typeface="Calibri" pitchFamily="34" charset="-120"/>
                        </a:rPr>
                        <a:t>0.0014</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tc>
                  <a:txBody>
                    <a:bodyPr/>
                    <a:lstStyle/>
                    <a:p>
                      <a:pPr marL="0" indent="0" algn="ctr">
                        <a:buNone/>
                      </a:pPr>
                      <a:r>
                        <a:rPr lang="en-US" sz="880" dirty="0">
                          <a:solidFill>
                            <a:srgbClr val="1A1A2E"/>
                          </a:solidFill>
                          <a:latin typeface="Calibri" pitchFamily="34" charset="0"/>
                          <a:ea typeface="Calibri" pitchFamily="34" charset="-122"/>
                          <a:cs typeface="Calibri" pitchFamily="34" charset="-120"/>
                        </a:rPr>
                        <a:t>5</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9936">
                <a:tc>
                  <a:txBody>
                    <a:bodyPr/>
                    <a:lstStyle/>
                    <a:p>
                      <a:pPr marL="0" indent="0" algn="ctr">
                        <a:buNone/>
                      </a:pPr>
                      <a:r>
                        <a:rPr lang="en-US" sz="880" i="1" dirty="0">
                          <a:solidFill>
                            <a:srgbClr val="4A5568"/>
                          </a:solidFill>
                          <a:latin typeface="Calibri" pitchFamily="34" charset="0"/>
                          <a:ea typeface="Calibri" pitchFamily="34" charset="-122"/>
                          <a:cs typeface="Calibri" pitchFamily="34" charset="-120"/>
                        </a:rPr>
                        <a:t>Web Attack XSS, SQLi, Brute Force, Botnet, Heartbleed</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80" i="1" dirty="0">
                          <a:solidFill>
                            <a:srgbClr val="4A5568"/>
                          </a:solidFill>
                          <a:latin typeface="Calibri" pitchFamily="34" charset="0"/>
                          <a:ea typeface="Calibri" pitchFamily="34" charset="-122"/>
                          <a:cs typeface="Calibri" pitchFamily="34" charset="-120"/>
                        </a:rPr>
                        <a:t>N/A</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tc>
                  <a:txBody>
                    <a:bodyPr/>
                    <a:lstStyle/>
                    <a:p>
                      <a:pPr marL="0" indent="0" algn="ctr">
                        <a:buNone/>
                      </a:pPr>
                      <a:r>
                        <a:rPr lang="en-US" sz="880" dirty="0">
                          <a:solidFill>
                            <a:srgbClr val="4A5568"/>
                          </a:solidFill>
                          <a:latin typeface="Calibri" pitchFamily="34" charset="0"/>
                          <a:ea typeface="Calibri" pitchFamily="34" charset="-122"/>
                          <a:cs typeface="Calibri" pitchFamily="34" charset="-120"/>
                        </a:rPr>
                        <a:t>0</a:t>
                      </a:r>
                      <a:endParaRPr lang="en-US" sz="880" dirty="0">
                        <a:latin typeface="Calibri" charset="0"/>
                        <a:ea typeface="Calibri" charset="0"/>
                        <a:cs typeface="Calibri" charset="0"/>
                      </a:endParaRPr>
                    </a:p>
                  </a:txBody>
                  <a:tcPr>
                    <a:lnL w="6350" cap="flat" cmpd="sng" algn="ctr">
                      <a:solidFill>
                        <a:srgbClr val="BBCDE8"/>
                      </a:solidFill>
                      <a:prstDash val="solid"/>
                      <a:round/>
                      <a:headEnd type="none" w="med" len="med"/>
                      <a:tailEnd type="none" w="med" len="med"/>
                    </a:lnL>
                    <a:lnR w="6350" cap="flat" cmpd="sng" algn="ctr">
                      <a:solidFill>
                        <a:srgbClr val="BBCDE8"/>
                      </a:solidFill>
                      <a:prstDash val="solid"/>
                      <a:round/>
                      <a:headEnd type="none" w="med" len="med"/>
                      <a:tailEnd type="none" w="med" len="med"/>
                    </a:lnR>
                    <a:lnT w="6350" cap="flat" cmpd="sng" algn="ctr">
                      <a:solidFill>
                        <a:srgbClr val="BBCDE8"/>
                      </a:solidFill>
                      <a:prstDash val="solid"/>
                      <a:round/>
                      <a:headEnd type="none" w="med" len="med"/>
                      <a:tailEnd type="none" w="med" len="med"/>
                    </a:lnT>
                    <a:lnB w="6350" cap="flat" cmpd="sng" algn="ctr">
                      <a:solidFill>
                        <a:srgbClr val="BBCDE8"/>
                      </a:solidFill>
                      <a:prstDash val="solid"/>
                      <a:round/>
                      <a:headEnd type="none" w="med" len="med"/>
                      <a:tailEnd type="none" w="med" len="med"/>
                    </a:lnB>
                    <a:solidFill>
                      <a:srgbClr val="E8EDF5"/>
                    </a:solidFill>
                  </a:tcPr>
                </a:tc>
                <a:extLst>
                  <a:ext uri="{0D108BD9-81ED-4DB2-BD59-A6C34878D82A}">
                    <a16:rowId xmlns:a16="http://schemas.microsoft.com/office/drawing/2014/main" val="10002"/>
                  </a:ext>
                </a:extLst>
              </a:tr>
            </a:tbl>
          </a:graphicData>
        </a:graphic>
      </p:graphicFrame>
      <p:sp>
        <p:nvSpPr>
          <p:cNvPr id="13" name="Text 9"/>
          <p:cNvSpPr/>
          <p:nvPr/>
        </p:nvSpPr>
        <p:spPr>
          <a:xfrm>
            <a:off x="256032" y="4791456"/>
            <a:ext cx="5303520" cy="164592"/>
          </a:xfrm>
          <a:prstGeom prst="rect">
            <a:avLst/>
          </a:prstGeom>
          <a:noFill/>
          <a:ln/>
        </p:spPr>
        <p:txBody>
          <a:bodyPr wrap="square" lIns="0" tIns="0" rIns="0" bIns="0" rtlCol="0" anchor="ctr"/>
          <a:lstStyle/>
          <a:p>
            <a:pPr marL="0" indent="0">
              <a:buNone/>
            </a:pPr>
            <a:r>
              <a:rPr lang="en-US" sz="750" i="1" dirty="0">
                <a:solidFill>
                  <a:srgbClr val="4A5568"/>
                </a:solidFill>
                <a:latin typeface="Calibri" pitchFamily="34" charset="0"/>
                <a:ea typeface="Calibri" pitchFamily="34" charset="-122"/>
                <a:cs typeface="Calibri" pitchFamily="34" charset="-120"/>
              </a:rPr>
              <a:t>Note: Zero test samples = dataset coverage gap, not a modeling failure.</a:t>
            </a:r>
            <a:endParaRPr lang="en-US" sz="750" dirty="0"/>
          </a:p>
        </p:txBody>
      </p:sp>
      <p:graphicFrame>
        <p:nvGraphicFramePr>
          <p:cNvPr id="14" name="Chart 0"/>
          <p:cNvGraphicFramePr/>
          <p:nvPr/>
        </p:nvGraphicFramePr>
        <p:xfrm>
          <a:off x="5669280" y="3749040"/>
          <a:ext cx="3246120" cy="1069848"/>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VIII. Conclusion &amp; Future Work</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Shape 5"/>
          <p:cNvSpPr/>
          <p:nvPr/>
        </p:nvSpPr>
        <p:spPr>
          <a:xfrm>
            <a:off x="256032" y="804672"/>
            <a:ext cx="2743200" cy="2377440"/>
          </a:xfrm>
          <a:prstGeom prst="rect">
            <a:avLst/>
          </a:prstGeom>
          <a:solidFill>
            <a:srgbClr val="FFFFFF"/>
          </a:solidFill>
          <a:ln w="15240">
            <a:solidFill>
              <a:srgbClr val="003F87"/>
            </a:solidFill>
            <a:prstDash val="solid"/>
          </a:ln>
          <a:effectLst>
            <a:outerShdw blurRad="63500" dist="25400" dir="8100000" algn="bl" rotWithShape="0">
              <a:srgbClr val="AAAAAA">
                <a:alpha val="18000"/>
              </a:srgbClr>
            </a:outerShdw>
          </a:effectLst>
        </p:spPr>
        <p:txBody>
          <a:bodyPr/>
          <a:lstStyle/>
          <a:p>
            <a:endParaRPr lang="en-US"/>
          </a:p>
        </p:txBody>
      </p:sp>
      <p:sp>
        <p:nvSpPr>
          <p:cNvPr id="8" name="Shape 6"/>
          <p:cNvSpPr/>
          <p:nvPr/>
        </p:nvSpPr>
        <p:spPr>
          <a:xfrm>
            <a:off x="256032" y="804672"/>
            <a:ext cx="2743200" cy="329184"/>
          </a:xfrm>
          <a:prstGeom prst="rect">
            <a:avLst/>
          </a:prstGeom>
          <a:solidFill>
            <a:srgbClr val="003F87"/>
          </a:solidFill>
          <a:ln w="12700">
            <a:solidFill>
              <a:srgbClr val="003F87"/>
            </a:solidFill>
            <a:prstDash val="solid"/>
          </a:ln>
        </p:spPr>
        <p:txBody>
          <a:bodyPr/>
          <a:lstStyle/>
          <a:p>
            <a:endParaRPr lang="en-US"/>
          </a:p>
        </p:txBody>
      </p:sp>
      <p:sp>
        <p:nvSpPr>
          <p:cNvPr id="9" name="Text 7"/>
          <p:cNvSpPr/>
          <p:nvPr/>
        </p:nvSpPr>
        <p:spPr>
          <a:xfrm>
            <a:off x="365760" y="804672"/>
            <a:ext cx="2523744"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Proposed System</a:t>
            </a:r>
            <a:endParaRPr lang="en-US" sz="1000" dirty="0"/>
          </a:p>
        </p:txBody>
      </p:sp>
      <p:sp>
        <p:nvSpPr>
          <p:cNvPr id="10" name="Text 8"/>
          <p:cNvSpPr/>
          <p:nvPr/>
        </p:nvSpPr>
        <p:spPr>
          <a:xfrm>
            <a:off x="384048" y="1188720"/>
            <a:ext cx="2487168" cy="1920240"/>
          </a:xfrm>
          <a:prstGeom prst="rect">
            <a:avLst/>
          </a:prstGeom>
          <a:noFill/>
          <a:ln/>
        </p:spPr>
        <p:txBody>
          <a:bodyPr wrap="square" lIns="0" tIns="0" rIns="0" bIns="0" rtlCol="0" anchor="t"/>
          <a:lstStyle/>
          <a:p>
            <a:pPr marL="0" indent="0">
              <a:buNone/>
            </a:pPr>
            <a:r>
              <a:rPr lang="en-US" sz="900" dirty="0">
                <a:solidFill>
                  <a:srgbClr val="1A1A2E"/>
                </a:solidFill>
                <a:latin typeface="Calibri" pitchFamily="34" charset="0"/>
                <a:ea typeface="Calibri" pitchFamily="34" charset="-122"/>
                <a:cs typeface="Calibri" pitchFamily="34" charset="-120"/>
              </a:rPr>
              <a:t>Lightweight weighted soft-voting ensemble: KNN + RF + XGBoost [0.2, 0.4, 0.4] with SelectKBest (k=30) feature selection and SMOTE (k=5) class balancing.</a:t>
            </a:r>
            <a:endParaRPr lang="en-US" sz="900" dirty="0"/>
          </a:p>
        </p:txBody>
      </p:sp>
      <p:sp>
        <p:nvSpPr>
          <p:cNvPr id="11" name="Shape 9"/>
          <p:cNvSpPr/>
          <p:nvPr/>
        </p:nvSpPr>
        <p:spPr>
          <a:xfrm>
            <a:off x="3163824" y="804672"/>
            <a:ext cx="2743200" cy="2377440"/>
          </a:xfrm>
          <a:prstGeom prst="rect">
            <a:avLst/>
          </a:prstGeom>
          <a:solidFill>
            <a:srgbClr val="FFFFFF"/>
          </a:solidFill>
          <a:ln w="15240">
            <a:solidFill>
              <a:srgbClr val="2E7BC4"/>
            </a:solidFill>
            <a:prstDash val="solid"/>
          </a:ln>
          <a:effectLst>
            <a:outerShdw blurRad="63500" dist="25400" dir="8100000" algn="bl" rotWithShape="0">
              <a:srgbClr val="AAAAAA">
                <a:alpha val="18000"/>
              </a:srgbClr>
            </a:outerShdw>
          </a:effectLst>
        </p:spPr>
        <p:txBody>
          <a:bodyPr/>
          <a:lstStyle/>
          <a:p>
            <a:endParaRPr lang="en-US"/>
          </a:p>
        </p:txBody>
      </p:sp>
      <p:sp>
        <p:nvSpPr>
          <p:cNvPr id="12" name="Shape 10"/>
          <p:cNvSpPr/>
          <p:nvPr/>
        </p:nvSpPr>
        <p:spPr>
          <a:xfrm>
            <a:off x="3163824" y="804672"/>
            <a:ext cx="2743200" cy="329184"/>
          </a:xfrm>
          <a:prstGeom prst="rect">
            <a:avLst/>
          </a:prstGeom>
          <a:solidFill>
            <a:srgbClr val="2E7BC4"/>
          </a:solidFill>
          <a:ln w="12700">
            <a:solidFill>
              <a:srgbClr val="2E7BC4"/>
            </a:solidFill>
            <a:prstDash val="solid"/>
          </a:ln>
        </p:spPr>
        <p:txBody>
          <a:bodyPr/>
          <a:lstStyle/>
          <a:p>
            <a:endParaRPr lang="en-US"/>
          </a:p>
        </p:txBody>
      </p:sp>
      <p:sp>
        <p:nvSpPr>
          <p:cNvPr id="13" name="Text 11"/>
          <p:cNvSpPr/>
          <p:nvPr/>
        </p:nvSpPr>
        <p:spPr>
          <a:xfrm>
            <a:off x="3273552" y="804672"/>
            <a:ext cx="2523744"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Achieved Performance</a:t>
            </a:r>
            <a:endParaRPr lang="en-US" sz="1000" dirty="0"/>
          </a:p>
        </p:txBody>
      </p:sp>
      <p:sp>
        <p:nvSpPr>
          <p:cNvPr id="14" name="Text 12"/>
          <p:cNvSpPr/>
          <p:nvPr/>
        </p:nvSpPr>
        <p:spPr>
          <a:xfrm>
            <a:off x="3291840" y="1188720"/>
            <a:ext cx="2487168" cy="1920240"/>
          </a:xfrm>
          <a:prstGeom prst="rect">
            <a:avLst/>
          </a:prstGeom>
          <a:noFill/>
          <a:ln/>
        </p:spPr>
        <p:txBody>
          <a:bodyPr wrap="square" lIns="0" tIns="0" rIns="0" bIns="0" rtlCol="0" anchor="t"/>
          <a:lstStyle/>
          <a:p>
            <a:pPr marL="0" indent="0">
              <a:buNone/>
            </a:pPr>
            <a:r>
              <a:rPr lang="en-US" sz="900" dirty="0">
                <a:solidFill>
                  <a:srgbClr val="1A1A2E"/>
                </a:solidFill>
                <a:latin typeface="Calibri" pitchFamily="34" charset="0"/>
                <a:ea typeface="Calibri" pitchFamily="34" charset="-122"/>
                <a:cs typeface="Calibri" pitchFamily="34" charset="-120"/>
              </a:rPr>
              <a:t>99.56% on CIC-IDS-2017 · 100.00% on UNSW-NB15 · 90.42% on CIC-IDS-2018. Ablation confirms: ensemble + feature selection are the dominant contributors.</a:t>
            </a:r>
            <a:endParaRPr lang="en-US" sz="900" dirty="0"/>
          </a:p>
        </p:txBody>
      </p:sp>
      <p:sp>
        <p:nvSpPr>
          <p:cNvPr id="15" name="Shape 13"/>
          <p:cNvSpPr/>
          <p:nvPr/>
        </p:nvSpPr>
        <p:spPr>
          <a:xfrm>
            <a:off x="6071616" y="804672"/>
            <a:ext cx="2743200" cy="2377440"/>
          </a:xfrm>
          <a:prstGeom prst="rect">
            <a:avLst/>
          </a:prstGeom>
          <a:solidFill>
            <a:srgbClr val="FFFFFF"/>
          </a:solidFill>
          <a:ln w="15240">
            <a:solidFill>
              <a:srgbClr val="C0392B"/>
            </a:solidFill>
            <a:prstDash val="solid"/>
          </a:ln>
          <a:effectLst>
            <a:outerShdw blurRad="63500" dist="25400" dir="8100000" algn="bl" rotWithShape="0">
              <a:srgbClr val="AAAAAA">
                <a:alpha val="18000"/>
              </a:srgbClr>
            </a:outerShdw>
          </a:effectLst>
        </p:spPr>
        <p:txBody>
          <a:bodyPr/>
          <a:lstStyle/>
          <a:p>
            <a:endParaRPr lang="en-US"/>
          </a:p>
        </p:txBody>
      </p:sp>
      <p:sp>
        <p:nvSpPr>
          <p:cNvPr id="16" name="Shape 14"/>
          <p:cNvSpPr/>
          <p:nvPr/>
        </p:nvSpPr>
        <p:spPr>
          <a:xfrm>
            <a:off x="6071616" y="804672"/>
            <a:ext cx="2743200" cy="329184"/>
          </a:xfrm>
          <a:prstGeom prst="rect">
            <a:avLst/>
          </a:prstGeom>
          <a:solidFill>
            <a:srgbClr val="C0392B"/>
          </a:solidFill>
          <a:ln w="12700">
            <a:solidFill>
              <a:srgbClr val="C0392B"/>
            </a:solidFill>
            <a:prstDash val="solid"/>
          </a:ln>
        </p:spPr>
        <p:txBody>
          <a:bodyPr/>
          <a:lstStyle/>
          <a:p>
            <a:endParaRPr lang="en-US"/>
          </a:p>
        </p:txBody>
      </p:sp>
      <p:sp>
        <p:nvSpPr>
          <p:cNvPr id="17" name="Text 15"/>
          <p:cNvSpPr/>
          <p:nvPr/>
        </p:nvSpPr>
        <p:spPr>
          <a:xfrm>
            <a:off x="6181344" y="804672"/>
            <a:ext cx="2523744" cy="329184"/>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Key Limitation</a:t>
            </a:r>
            <a:endParaRPr lang="en-US" sz="1000" dirty="0"/>
          </a:p>
        </p:txBody>
      </p:sp>
      <p:sp>
        <p:nvSpPr>
          <p:cNvPr id="18" name="Text 16"/>
          <p:cNvSpPr/>
          <p:nvPr/>
        </p:nvSpPr>
        <p:spPr>
          <a:xfrm>
            <a:off x="6199632" y="1188720"/>
            <a:ext cx="2487168" cy="1920240"/>
          </a:xfrm>
          <a:prstGeom prst="rect">
            <a:avLst/>
          </a:prstGeom>
          <a:noFill/>
          <a:ln/>
        </p:spPr>
        <p:txBody>
          <a:bodyPr wrap="square" lIns="0" tIns="0" rIns="0" bIns="0" rtlCol="0" anchor="t"/>
          <a:lstStyle/>
          <a:p>
            <a:pPr marL="0" indent="0">
              <a:buNone/>
            </a:pPr>
            <a:r>
              <a:rPr lang="en-US" sz="900" dirty="0">
                <a:solidFill>
                  <a:srgbClr val="1A1A2E"/>
                </a:solidFill>
                <a:latin typeface="Calibri" pitchFamily="34" charset="0"/>
                <a:ea typeface="Calibri" pitchFamily="34" charset="-122"/>
                <a:cs typeface="Calibri" pitchFamily="34" charset="-120"/>
              </a:rPr>
              <a:t>Cross-dataset generalization fails severely — down to 19.69% accuracy. Dataset-shift is the central obstacle to real-world WAF deployment.</a:t>
            </a:r>
            <a:endParaRPr lang="en-US" sz="900" dirty="0"/>
          </a:p>
        </p:txBody>
      </p:sp>
      <p:sp>
        <p:nvSpPr>
          <p:cNvPr id="19" name="Shape 17"/>
          <p:cNvSpPr/>
          <p:nvPr/>
        </p:nvSpPr>
        <p:spPr>
          <a:xfrm>
            <a:off x="256032" y="3291840"/>
            <a:ext cx="8641080" cy="0"/>
          </a:xfrm>
          <a:prstGeom prst="line">
            <a:avLst/>
          </a:prstGeom>
          <a:noFill/>
          <a:ln w="12700">
            <a:solidFill>
              <a:srgbClr val="BBCDE8"/>
            </a:solidFill>
            <a:prstDash val="solid"/>
          </a:ln>
        </p:spPr>
        <p:txBody>
          <a:bodyPr/>
          <a:lstStyle/>
          <a:p>
            <a:endParaRPr lang="en-US"/>
          </a:p>
        </p:txBody>
      </p:sp>
      <p:sp>
        <p:nvSpPr>
          <p:cNvPr id="20" name="Text 18"/>
          <p:cNvSpPr/>
          <p:nvPr/>
        </p:nvSpPr>
        <p:spPr>
          <a:xfrm>
            <a:off x="256032" y="3364992"/>
            <a:ext cx="8641080" cy="274320"/>
          </a:xfrm>
          <a:prstGeom prst="rect">
            <a:avLst/>
          </a:prstGeom>
          <a:noFill/>
          <a:ln/>
        </p:spPr>
        <p:txBody>
          <a:bodyPr wrap="square" lIns="0" tIns="0" rIns="0" bIns="0" rtlCol="0" anchor="ctr"/>
          <a:lstStyle/>
          <a:p>
            <a:pPr marL="0" indent="0">
              <a:buNone/>
            </a:pPr>
            <a:r>
              <a:rPr lang="en-US" sz="1100" b="1" dirty="0">
                <a:solidFill>
                  <a:srgbClr val="003F87"/>
                </a:solidFill>
                <a:latin typeface="Calibri" pitchFamily="34" charset="0"/>
                <a:ea typeface="Calibri" pitchFamily="34" charset="-122"/>
                <a:cs typeface="Calibri" pitchFamily="34" charset="-120"/>
              </a:rPr>
              <a:t>Future Work</a:t>
            </a:r>
            <a:endParaRPr lang="en-US" sz="1100" dirty="0"/>
          </a:p>
        </p:txBody>
      </p:sp>
      <p:sp>
        <p:nvSpPr>
          <p:cNvPr id="21" name="Shape 19"/>
          <p:cNvSpPr/>
          <p:nvPr/>
        </p:nvSpPr>
        <p:spPr>
          <a:xfrm>
            <a:off x="256032" y="3703320"/>
            <a:ext cx="4206240" cy="502920"/>
          </a:xfrm>
          <a:prstGeom prst="rect">
            <a:avLst/>
          </a:prstGeom>
          <a:solidFill>
            <a:srgbClr val="EEF3FA"/>
          </a:solidFill>
          <a:ln w="9525">
            <a:solidFill>
              <a:srgbClr val="BBCDE8"/>
            </a:solidFill>
            <a:prstDash val="solid"/>
          </a:ln>
        </p:spPr>
        <p:txBody>
          <a:bodyPr/>
          <a:lstStyle/>
          <a:p>
            <a:endParaRPr lang="en-US"/>
          </a:p>
        </p:txBody>
      </p:sp>
      <p:sp>
        <p:nvSpPr>
          <p:cNvPr id="22" name="Shape 20"/>
          <p:cNvSpPr/>
          <p:nvPr/>
        </p:nvSpPr>
        <p:spPr>
          <a:xfrm>
            <a:off x="256032" y="3703320"/>
            <a:ext cx="54864" cy="502920"/>
          </a:xfrm>
          <a:prstGeom prst="rect">
            <a:avLst/>
          </a:prstGeom>
          <a:solidFill>
            <a:srgbClr val="2E7BC4"/>
          </a:solidFill>
          <a:ln w="12700">
            <a:solidFill>
              <a:srgbClr val="2E7BC4"/>
            </a:solidFill>
            <a:prstDash val="solid"/>
          </a:ln>
        </p:spPr>
        <p:txBody>
          <a:bodyPr/>
          <a:lstStyle/>
          <a:p>
            <a:endParaRPr lang="en-US"/>
          </a:p>
        </p:txBody>
      </p:sp>
      <p:sp>
        <p:nvSpPr>
          <p:cNvPr id="23" name="Text 21"/>
          <p:cNvSpPr/>
          <p:nvPr/>
        </p:nvSpPr>
        <p:spPr>
          <a:xfrm>
            <a:off x="393192" y="3730752"/>
            <a:ext cx="3977640" cy="219456"/>
          </a:xfrm>
          <a:prstGeom prst="rect">
            <a:avLst/>
          </a:prstGeom>
          <a:noFill/>
          <a:ln/>
        </p:spPr>
        <p:txBody>
          <a:bodyPr wrap="square" lIns="0" tIns="0" rIns="0" bIns="0" rtlCol="0" anchor="ctr"/>
          <a:lstStyle/>
          <a:p>
            <a:pPr marL="0" indent="0">
              <a:buNone/>
            </a:pPr>
            <a:r>
              <a:rPr lang="en-US" sz="900" b="1" dirty="0">
                <a:solidFill>
                  <a:srgbClr val="003F87"/>
                </a:solidFill>
                <a:latin typeface="Calibri" pitchFamily="34" charset="0"/>
                <a:ea typeface="Calibri" pitchFamily="34" charset="-122"/>
                <a:cs typeface="Calibri" pitchFamily="34" charset="-120"/>
              </a:rPr>
              <a:t>Domain Adaptation</a:t>
            </a:r>
            <a:endParaRPr lang="en-US" sz="900" dirty="0"/>
          </a:p>
        </p:txBody>
      </p:sp>
      <p:sp>
        <p:nvSpPr>
          <p:cNvPr id="24" name="Text 22"/>
          <p:cNvSpPr/>
          <p:nvPr/>
        </p:nvSpPr>
        <p:spPr>
          <a:xfrm>
            <a:off x="393192" y="3959352"/>
            <a:ext cx="3977640" cy="219456"/>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Techniques to reduce feature distribution mismatch across benchmark corpora</a:t>
            </a:r>
            <a:endParaRPr lang="en-US" sz="800" dirty="0"/>
          </a:p>
        </p:txBody>
      </p:sp>
      <p:sp>
        <p:nvSpPr>
          <p:cNvPr id="25" name="Shape 23"/>
          <p:cNvSpPr/>
          <p:nvPr/>
        </p:nvSpPr>
        <p:spPr>
          <a:xfrm>
            <a:off x="4645152" y="3703320"/>
            <a:ext cx="4206240" cy="502920"/>
          </a:xfrm>
          <a:prstGeom prst="rect">
            <a:avLst/>
          </a:prstGeom>
          <a:solidFill>
            <a:srgbClr val="EEF3FA"/>
          </a:solidFill>
          <a:ln w="9525">
            <a:solidFill>
              <a:srgbClr val="BBCDE8"/>
            </a:solidFill>
            <a:prstDash val="solid"/>
          </a:ln>
        </p:spPr>
        <p:txBody>
          <a:bodyPr/>
          <a:lstStyle/>
          <a:p>
            <a:endParaRPr lang="en-US"/>
          </a:p>
        </p:txBody>
      </p:sp>
      <p:sp>
        <p:nvSpPr>
          <p:cNvPr id="26" name="Shape 24"/>
          <p:cNvSpPr/>
          <p:nvPr/>
        </p:nvSpPr>
        <p:spPr>
          <a:xfrm>
            <a:off x="4645152" y="3703320"/>
            <a:ext cx="54864" cy="502920"/>
          </a:xfrm>
          <a:prstGeom prst="rect">
            <a:avLst/>
          </a:prstGeom>
          <a:solidFill>
            <a:srgbClr val="2E7BC4"/>
          </a:solidFill>
          <a:ln w="12700">
            <a:solidFill>
              <a:srgbClr val="2E7BC4"/>
            </a:solidFill>
            <a:prstDash val="solid"/>
          </a:ln>
        </p:spPr>
        <p:txBody>
          <a:bodyPr/>
          <a:lstStyle/>
          <a:p>
            <a:endParaRPr lang="en-US"/>
          </a:p>
        </p:txBody>
      </p:sp>
      <p:sp>
        <p:nvSpPr>
          <p:cNvPr id="27" name="Text 25"/>
          <p:cNvSpPr/>
          <p:nvPr/>
        </p:nvSpPr>
        <p:spPr>
          <a:xfrm>
            <a:off x="4782312" y="3730752"/>
            <a:ext cx="3977640" cy="219456"/>
          </a:xfrm>
          <a:prstGeom prst="rect">
            <a:avLst/>
          </a:prstGeom>
          <a:noFill/>
          <a:ln/>
        </p:spPr>
        <p:txBody>
          <a:bodyPr wrap="square" lIns="0" tIns="0" rIns="0" bIns="0" rtlCol="0" anchor="ctr"/>
          <a:lstStyle/>
          <a:p>
            <a:pPr marL="0" indent="0">
              <a:buNone/>
            </a:pPr>
            <a:r>
              <a:rPr lang="en-US" sz="900" b="1" dirty="0">
                <a:solidFill>
                  <a:srgbClr val="003F87"/>
                </a:solidFill>
                <a:latin typeface="Calibri" pitchFamily="34" charset="0"/>
                <a:ea typeface="Calibri" pitchFamily="34" charset="-122"/>
                <a:cs typeface="Calibri" pitchFamily="34" charset="-120"/>
              </a:rPr>
              <a:t>Continual Learning</a:t>
            </a:r>
            <a:endParaRPr lang="en-US" sz="900" dirty="0"/>
          </a:p>
        </p:txBody>
      </p:sp>
      <p:sp>
        <p:nvSpPr>
          <p:cNvPr id="28" name="Text 26"/>
          <p:cNvSpPr/>
          <p:nvPr/>
        </p:nvSpPr>
        <p:spPr>
          <a:xfrm>
            <a:off x="4782312" y="3959352"/>
            <a:ext cx="3977640" cy="219456"/>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Model updates as network traffic distributions evolve in production</a:t>
            </a:r>
            <a:endParaRPr lang="en-US" sz="800" dirty="0"/>
          </a:p>
        </p:txBody>
      </p:sp>
      <p:sp>
        <p:nvSpPr>
          <p:cNvPr id="29" name="Shape 27"/>
          <p:cNvSpPr/>
          <p:nvPr/>
        </p:nvSpPr>
        <p:spPr>
          <a:xfrm>
            <a:off x="256032" y="4270248"/>
            <a:ext cx="4206240" cy="502920"/>
          </a:xfrm>
          <a:prstGeom prst="rect">
            <a:avLst/>
          </a:prstGeom>
          <a:solidFill>
            <a:srgbClr val="EEF3FA"/>
          </a:solidFill>
          <a:ln w="9525">
            <a:solidFill>
              <a:srgbClr val="BBCDE8"/>
            </a:solidFill>
            <a:prstDash val="solid"/>
          </a:ln>
        </p:spPr>
        <p:txBody>
          <a:bodyPr/>
          <a:lstStyle/>
          <a:p>
            <a:endParaRPr lang="en-US"/>
          </a:p>
        </p:txBody>
      </p:sp>
      <p:sp>
        <p:nvSpPr>
          <p:cNvPr id="30" name="Shape 28"/>
          <p:cNvSpPr/>
          <p:nvPr/>
        </p:nvSpPr>
        <p:spPr>
          <a:xfrm>
            <a:off x="256032" y="4270248"/>
            <a:ext cx="54864" cy="502920"/>
          </a:xfrm>
          <a:prstGeom prst="rect">
            <a:avLst/>
          </a:prstGeom>
          <a:solidFill>
            <a:srgbClr val="2E7BC4"/>
          </a:solidFill>
          <a:ln w="12700">
            <a:solidFill>
              <a:srgbClr val="2E7BC4"/>
            </a:solidFill>
            <a:prstDash val="solid"/>
          </a:ln>
        </p:spPr>
        <p:txBody>
          <a:bodyPr/>
          <a:lstStyle/>
          <a:p>
            <a:endParaRPr lang="en-US"/>
          </a:p>
        </p:txBody>
      </p:sp>
      <p:sp>
        <p:nvSpPr>
          <p:cNvPr id="31" name="Text 29"/>
          <p:cNvSpPr/>
          <p:nvPr/>
        </p:nvSpPr>
        <p:spPr>
          <a:xfrm>
            <a:off x="393192" y="4297680"/>
            <a:ext cx="3977640" cy="219456"/>
          </a:xfrm>
          <a:prstGeom prst="rect">
            <a:avLst/>
          </a:prstGeom>
          <a:noFill/>
          <a:ln/>
        </p:spPr>
        <p:txBody>
          <a:bodyPr wrap="square" lIns="0" tIns="0" rIns="0" bIns="0" rtlCol="0" anchor="ctr"/>
          <a:lstStyle/>
          <a:p>
            <a:pPr marL="0" indent="0">
              <a:buNone/>
            </a:pPr>
            <a:r>
              <a:rPr lang="en-US" sz="900" b="1" dirty="0">
                <a:solidFill>
                  <a:srgbClr val="003F87"/>
                </a:solidFill>
                <a:latin typeface="Calibri" pitchFamily="34" charset="0"/>
                <a:ea typeface="Calibri" pitchFamily="34" charset="-122"/>
                <a:cs typeface="Calibri" pitchFamily="34" charset="-120"/>
              </a:rPr>
              <a:t>Minority Attack Sampling</a:t>
            </a:r>
            <a:endParaRPr lang="en-US" sz="900" dirty="0"/>
          </a:p>
        </p:txBody>
      </p:sp>
      <p:sp>
        <p:nvSpPr>
          <p:cNvPr id="32" name="Text 30"/>
          <p:cNvSpPr/>
          <p:nvPr/>
        </p:nvSpPr>
        <p:spPr>
          <a:xfrm>
            <a:off x="393192" y="4526280"/>
            <a:ext cx="3977640" cy="219456"/>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More aggressive strategies for rare categories (Heartbleed, SQLi, etc.)</a:t>
            </a:r>
            <a:endParaRPr lang="en-US" sz="800" dirty="0"/>
          </a:p>
        </p:txBody>
      </p:sp>
      <p:sp>
        <p:nvSpPr>
          <p:cNvPr id="33" name="Shape 31"/>
          <p:cNvSpPr/>
          <p:nvPr/>
        </p:nvSpPr>
        <p:spPr>
          <a:xfrm>
            <a:off x="4645152" y="4270248"/>
            <a:ext cx="4206240" cy="502920"/>
          </a:xfrm>
          <a:prstGeom prst="rect">
            <a:avLst/>
          </a:prstGeom>
          <a:solidFill>
            <a:srgbClr val="EEF3FA"/>
          </a:solidFill>
          <a:ln w="9525">
            <a:solidFill>
              <a:srgbClr val="BBCDE8"/>
            </a:solidFill>
            <a:prstDash val="solid"/>
          </a:ln>
        </p:spPr>
        <p:txBody>
          <a:bodyPr/>
          <a:lstStyle/>
          <a:p>
            <a:endParaRPr lang="en-US"/>
          </a:p>
        </p:txBody>
      </p:sp>
      <p:sp>
        <p:nvSpPr>
          <p:cNvPr id="34" name="Shape 32"/>
          <p:cNvSpPr/>
          <p:nvPr/>
        </p:nvSpPr>
        <p:spPr>
          <a:xfrm>
            <a:off x="4645152" y="4270248"/>
            <a:ext cx="54864" cy="502920"/>
          </a:xfrm>
          <a:prstGeom prst="rect">
            <a:avLst/>
          </a:prstGeom>
          <a:solidFill>
            <a:srgbClr val="2E7BC4"/>
          </a:solidFill>
          <a:ln w="12700">
            <a:solidFill>
              <a:srgbClr val="2E7BC4"/>
            </a:solidFill>
            <a:prstDash val="solid"/>
          </a:ln>
        </p:spPr>
        <p:txBody>
          <a:bodyPr/>
          <a:lstStyle/>
          <a:p>
            <a:endParaRPr lang="en-US"/>
          </a:p>
        </p:txBody>
      </p:sp>
      <p:sp>
        <p:nvSpPr>
          <p:cNvPr id="35" name="Text 33"/>
          <p:cNvSpPr/>
          <p:nvPr/>
        </p:nvSpPr>
        <p:spPr>
          <a:xfrm>
            <a:off x="4782312" y="4297680"/>
            <a:ext cx="3977640" cy="219456"/>
          </a:xfrm>
          <a:prstGeom prst="rect">
            <a:avLst/>
          </a:prstGeom>
          <a:noFill/>
          <a:ln/>
        </p:spPr>
        <p:txBody>
          <a:bodyPr wrap="square" lIns="0" tIns="0" rIns="0" bIns="0" rtlCol="0" anchor="ctr"/>
          <a:lstStyle/>
          <a:p>
            <a:pPr marL="0" indent="0">
              <a:buNone/>
            </a:pPr>
            <a:r>
              <a:rPr lang="en-US" sz="900" b="1" dirty="0">
                <a:solidFill>
                  <a:srgbClr val="003F87"/>
                </a:solidFill>
                <a:latin typeface="Calibri" pitchFamily="34" charset="0"/>
                <a:ea typeface="Calibri" pitchFamily="34" charset="-122"/>
                <a:cs typeface="Calibri" pitchFamily="34" charset="-120"/>
              </a:rPr>
              <a:t>Transfer Robustness Metrics</a:t>
            </a:r>
            <a:endParaRPr lang="en-US" sz="900" dirty="0"/>
          </a:p>
        </p:txBody>
      </p:sp>
      <p:sp>
        <p:nvSpPr>
          <p:cNvPr id="36" name="Text 34"/>
          <p:cNvSpPr/>
          <p:nvPr/>
        </p:nvSpPr>
        <p:spPr>
          <a:xfrm>
            <a:off x="4782312" y="4526280"/>
            <a:ext cx="3977640" cy="219456"/>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Cross-domain shift evaluation as a standard benchmark requirement</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3F87"/>
          </a:solidFill>
          <a:ln w="12700">
            <a:solidFill>
              <a:srgbClr val="003F87"/>
            </a:solidFill>
            <a:prstDash val="solid"/>
          </a:ln>
        </p:spPr>
        <p:txBody>
          <a:bodyPr/>
          <a:lstStyle/>
          <a:p>
            <a:endParaRPr lang="en-US"/>
          </a:p>
        </p:txBody>
      </p:sp>
      <p:sp>
        <p:nvSpPr>
          <p:cNvPr id="3" name="Shape 1"/>
          <p:cNvSpPr/>
          <p:nvPr/>
        </p:nvSpPr>
        <p:spPr>
          <a:xfrm>
            <a:off x="0" y="658368"/>
            <a:ext cx="9144000" cy="41148"/>
          </a:xfrm>
          <a:prstGeom prst="rect">
            <a:avLst/>
          </a:prstGeom>
          <a:solidFill>
            <a:srgbClr val="C8870A"/>
          </a:solidFill>
          <a:ln w="12700">
            <a:solidFill>
              <a:srgbClr val="C8870A"/>
            </a:solidFill>
            <a:prstDash val="solid"/>
          </a:ln>
        </p:spPr>
        <p:txBody>
          <a:bodyPr/>
          <a:lstStyle/>
          <a:p>
            <a:endParaRPr lang="en-US"/>
          </a:p>
        </p:txBody>
      </p:sp>
      <p:sp>
        <p:nvSpPr>
          <p:cNvPr id="4" name="Text 2"/>
          <p:cNvSpPr/>
          <p:nvPr/>
        </p:nvSpPr>
        <p:spPr>
          <a:xfrm>
            <a:off x="411480" y="0"/>
            <a:ext cx="8321040" cy="65836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IX. References</a:t>
            </a:r>
            <a:endParaRPr lang="en-US" sz="1600" dirty="0"/>
          </a:p>
        </p:txBody>
      </p:sp>
      <p:sp>
        <p:nvSpPr>
          <p:cNvPr id="5" name="Shape 3"/>
          <p:cNvSpPr/>
          <p:nvPr/>
        </p:nvSpPr>
        <p:spPr>
          <a:xfrm>
            <a:off x="0" y="4956048"/>
            <a:ext cx="9144000" cy="187452"/>
          </a:xfrm>
          <a:prstGeom prst="rect">
            <a:avLst/>
          </a:prstGeom>
          <a:solidFill>
            <a:srgbClr val="EEF3FA"/>
          </a:solidFill>
          <a:ln w="12700">
            <a:solidFill>
              <a:srgbClr val="BBCDE8"/>
            </a:solidFill>
            <a:prstDash val="solid"/>
          </a:ln>
        </p:spPr>
        <p:txBody>
          <a:bodyPr/>
          <a:lstStyle/>
          <a:p>
            <a:endParaRPr lang="en-US"/>
          </a:p>
        </p:txBody>
      </p:sp>
      <p:sp>
        <p:nvSpPr>
          <p:cNvPr id="6" name="Text 4"/>
          <p:cNvSpPr/>
          <p:nvPr/>
        </p:nvSpPr>
        <p:spPr>
          <a:xfrm>
            <a:off x="274320" y="4956048"/>
            <a:ext cx="8595360" cy="187452"/>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Lightweight Hybrid ML Ensemble for Real-Time Multi-Threat Detection in WAF  ·</a:t>
            </a:r>
            <a:endParaRPr lang="en-US" sz="750" dirty="0"/>
          </a:p>
        </p:txBody>
      </p:sp>
      <p:sp>
        <p:nvSpPr>
          <p:cNvPr id="7" name="Text 5"/>
          <p:cNvSpPr/>
          <p:nvPr/>
        </p:nvSpPr>
        <p:spPr>
          <a:xfrm>
            <a:off x="292608" y="822960"/>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[1] T. M. Cover and P. E. Hart, 'Nearest neighbor pattern classification,' IEEE Trans. Inf. Theory, vol. 13, 1967.</a:t>
            </a:r>
            <a:endParaRPr lang="en-US" sz="780" dirty="0"/>
          </a:p>
        </p:txBody>
      </p:sp>
      <p:sp>
        <p:nvSpPr>
          <p:cNvPr id="8" name="Text 6"/>
          <p:cNvSpPr/>
          <p:nvPr/>
        </p:nvSpPr>
        <p:spPr>
          <a:xfrm>
            <a:off x="292608" y="1330452"/>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[2] L. Breiman, 'Random forests,' Mach. Learn., vol. 45, 2001.</a:t>
            </a:r>
            <a:endParaRPr lang="en-US" sz="780" dirty="0"/>
          </a:p>
        </p:txBody>
      </p:sp>
      <p:sp>
        <p:nvSpPr>
          <p:cNvPr id="9" name="Text 7"/>
          <p:cNvSpPr/>
          <p:nvPr/>
        </p:nvSpPr>
        <p:spPr>
          <a:xfrm>
            <a:off x="292608" y="1837944"/>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[3] T. Chen and C. Guestrin, 'XGBoost: A scalable tree boosting system,' SIGKDD, 2016.</a:t>
            </a:r>
            <a:endParaRPr lang="en-US" sz="780" dirty="0"/>
          </a:p>
        </p:txBody>
      </p:sp>
      <p:sp>
        <p:nvSpPr>
          <p:cNvPr id="10" name="Text 8"/>
          <p:cNvSpPr/>
          <p:nvPr/>
        </p:nvSpPr>
        <p:spPr>
          <a:xfrm>
            <a:off x="292608" y="2345436"/>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[4] N. V. Chawla et al., 'SMOTE: Synthetic minority over-sampling technique,' JAIR, vol. 16, 2002.</a:t>
            </a:r>
            <a:endParaRPr lang="en-US" sz="780" dirty="0"/>
          </a:p>
        </p:txBody>
      </p:sp>
      <p:sp>
        <p:nvSpPr>
          <p:cNvPr id="11" name="Text 9"/>
          <p:cNvSpPr/>
          <p:nvPr/>
        </p:nvSpPr>
        <p:spPr>
          <a:xfrm>
            <a:off x="292608" y="2852928"/>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[5] H. He and E. A. Garcia, 'Learning from imbalanced data,' IEEE Trans. Knowl. Data Eng., 2009.</a:t>
            </a:r>
            <a:endParaRPr lang="en-US" sz="780" dirty="0"/>
          </a:p>
        </p:txBody>
      </p:sp>
      <p:sp>
        <p:nvSpPr>
          <p:cNvPr id="12" name="Text 10"/>
          <p:cNvSpPr/>
          <p:nvPr/>
        </p:nvSpPr>
        <p:spPr>
          <a:xfrm>
            <a:off x="292608" y="3360420"/>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[6] M. Sokolova and G. Lapalme, 'Performance measures for classification tasks,' IPM, 2009.</a:t>
            </a:r>
            <a:endParaRPr lang="en-US" sz="780" dirty="0"/>
          </a:p>
        </p:txBody>
      </p:sp>
      <p:sp>
        <p:nvSpPr>
          <p:cNvPr id="13" name="Text 11"/>
          <p:cNvSpPr/>
          <p:nvPr/>
        </p:nvSpPr>
        <p:spPr>
          <a:xfrm>
            <a:off x="292608" y="3867912"/>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[7] R. Polikar, 'Ensemble based systems in decision making,' IEEE Circuits Syst. Mag., 2006.</a:t>
            </a:r>
            <a:endParaRPr lang="en-US" sz="780" dirty="0"/>
          </a:p>
        </p:txBody>
      </p:sp>
      <p:sp>
        <p:nvSpPr>
          <p:cNvPr id="14" name="Text 12"/>
          <p:cNvSpPr/>
          <p:nvPr/>
        </p:nvSpPr>
        <p:spPr>
          <a:xfrm>
            <a:off x="292608" y="4375404"/>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[9] T. G. Dietterich, 'Ensemble methods in machine learning,' MCS Workshop, 2000.</a:t>
            </a:r>
            <a:endParaRPr lang="en-US" sz="780" dirty="0"/>
          </a:p>
        </p:txBody>
      </p:sp>
      <p:sp>
        <p:nvSpPr>
          <p:cNvPr id="15" name="Text 13"/>
          <p:cNvSpPr/>
          <p:nvPr/>
        </p:nvSpPr>
        <p:spPr>
          <a:xfrm>
            <a:off x="4681728" y="822960"/>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[10] P. Garcia-Teodoro et al., 'Anomaly-based network intrusion detection,' Comput. Secur., 2009.</a:t>
            </a:r>
            <a:endParaRPr lang="en-US" sz="780" dirty="0"/>
          </a:p>
        </p:txBody>
      </p:sp>
      <p:sp>
        <p:nvSpPr>
          <p:cNvPr id="16" name="Text 14"/>
          <p:cNvSpPr/>
          <p:nvPr/>
        </p:nvSpPr>
        <p:spPr>
          <a:xfrm>
            <a:off x="4681728" y="1330452"/>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[11] A. L. Buczak and E. Guven, 'Survey of ML methods for cyber IDS,' IEEE Commun. Surveys, 2016.</a:t>
            </a:r>
            <a:endParaRPr lang="en-US" sz="780" dirty="0"/>
          </a:p>
        </p:txBody>
      </p:sp>
      <p:sp>
        <p:nvSpPr>
          <p:cNvPr id="17" name="Text 15"/>
          <p:cNvSpPr/>
          <p:nvPr/>
        </p:nvSpPr>
        <p:spPr>
          <a:xfrm>
            <a:off x="4681728" y="1837944"/>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[12] I. Sharafaldin et al., 'Toward generating a new intrusion detection dataset,' ICISSP, 2018.</a:t>
            </a:r>
            <a:endParaRPr lang="en-US" sz="780" dirty="0"/>
          </a:p>
        </p:txBody>
      </p:sp>
      <p:sp>
        <p:nvSpPr>
          <p:cNvPr id="18" name="Text 16"/>
          <p:cNvSpPr/>
          <p:nvPr/>
        </p:nvSpPr>
        <p:spPr>
          <a:xfrm>
            <a:off x="4681728" y="2345436"/>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[13] N. Moustafa and J. Slay, 'UNSW-NB15: A comprehensive dataset for NIDS,' MilCIS, 2015.</a:t>
            </a:r>
            <a:endParaRPr lang="en-US" sz="780" dirty="0"/>
          </a:p>
        </p:txBody>
      </p:sp>
      <p:sp>
        <p:nvSpPr>
          <p:cNvPr id="19" name="Text 17"/>
          <p:cNvSpPr/>
          <p:nvPr/>
        </p:nvSpPr>
        <p:spPr>
          <a:xfrm>
            <a:off x="4681728" y="2852928"/>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[14] CIC, 'CSE-CIC-IDS2018 Dataset,' Canadian Institute for Cybersecurity, 2018.</a:t>
            </a:r>
            <a:endParaRPr lang="en-US" sz="780" dirty="0"/>
          </a:p>
        </p:txBody>
      </p:sp>
      <p:sp>
        <p:nvSpPr>
          <p:cNvPr id="20" name="Text 18"/>
          <p:cNvSpPr/>
          <p:nvPr/>
        </p:nvSpPr>
        <p:spPr>
          <a:xfrm>
            <a:off x="4681728" y="3360420"/>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[26] S. Rajagopal et al., 'Ensemble learning framework for intrusion detection,' Comput. Netw., 2023.</a:t>
            </a:r>
            <a:endParaRPr lang="en-US" sz="780" dirty="0"/>
          </a:p>
        </p:txBody>
      </p:sp>
      <p:sp>
        <p:nvSpPr>
          <p:cNvPr id="21" name="Text 19"/>
          <p:cNvSpPr/>
          <p:nvPr/>
        </p:nvSpPr>
        <p:spPr>
          <a:xfrm>
            <a:off x="4681728" y="3867912"/>
            <a:ext cx="4206240" cy="466344"/>
          </a:xfrm>
          <a:prstGeom prst="rect">
            <a:avLst/>
          </a:prstGeom>
          <a:noFill/>
          <a:ln/>
        </p:spPr>
        <p:txBody>
          <a:bodyPr wrap="square" lIns="0" tIns="0" rIns="0" bIns="0" rtlCol="0" anchor="t"/>
          <a:lstStyle/>
          <a:p>
            <a:pPr marL="0" indent="0">
              <a:buNone/>
            </a:pPr>
            <a:r>
              <a:rPr lang="en-US" sz="780" dirty="0">
                <a:solidFill>
                  <a:srgbClr val="1A1A2E"/>
                </a:solidFill>
                <a:latin typeface="Calibri" pitchFamily="34" charset="0"/>
                <a:ea typeface="Calibri" pitchFamily="34" charset="-122"/>
                <a:cs typeface="Calibri" pitchFamily="34" charset="-120"/>
              </a:rPr>
              <a:t>[27] D. Tripathy et al., 'Intrusion detection using weighted ensemble learning,' Comput. Secur., 2024.</a:t>
            </a:r>
            <a:endParaRPr lang="en-US" sz="780" dirty="0"/>
          </a:p>
        </p:txBody>
      </p:sp>
      <p:sp>
        <p:nvSpPr>
          <p:cNvPr id="22" name="Shape 20"/>
          <p:cNvSpPr/>
          <p:nvPr/>
        </p:nvSpPr>
        <p:spPr>
          <a:xfrm>
            <a:off x="4572000" y="822960"/>
            <a:ext cx="0" cy="4005072"/>
          </a:xfrm>
          <a:prstGeom prst="line">
            <a:avLst/>
          </a:prstGeom>
          <a:noFill/>
          <a:ln w="9525">
            <a:solidFill>
              <a:srgbClr val="BBCDE8"/>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1877</Words>
  <Application>Microsoft Office PowerPoint</Application>
  <PresentationFormat>On-screen Show (16:9)</PresentationFormat>
  <Paragraphs>407</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Lightweight Hybrid ML Ensemble for Real-Time Multi-Threat Detection in WAF</dc:title>
  <dc:subject>PptxGenJS Presentation</dc:subject>
  <dc:creator>PptxGenJS</dc:creator>
  <cp:lastModifiedBy>MD.FAHAD ISLAM TOGOR</cp:lastModifiedBy>
  <cp:revision>2</cp:revision>
  <dcterms:created xsi:type="dcterms:W3CDTF">2026-05-15T21:14:38Z</dcterms:created>
  <dcterms:modified xsi:type="dcterms:W3CDTF">2026-05-15T21:18:31Z</dcterms:modified>
</cp:coreProperties>
</file>